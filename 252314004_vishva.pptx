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5CC"/>
    <a:srgbClr val="FBDCBF"/>
    <a:srgbClr val="FFCFE7"/>
    <a:srgbClr val="BFE7FF"/>
    <a:srgbClr val="D7F5CD"/>
    <a:srgbClr val="FCDCBF"/>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5" d="100"/>
          <a:sy n="55" d="100"/>
        </p:scale>
        <p:origin x="-90"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5"/>
            </a:lvl1pPr>
            <a:lvl2pPr marL="823595" indent="0" algn="ctr">
              <a:buNone/>
              <a:defRPr sz="3600"/>
            </a:lvl2pPr>
            <a:lvl3pPr marL="1646555" indent="0" algn="ctr">
              <a:buNone/>
              <a:defRPr sz="3240"/>
            </a:lvl3pPr>
            <a:lvl4pPr marL="2470150" indent="0" algn="ctr">
              <a:buNone/>
              <a:defRPr sz="2880"/>
            </a:lvl4pPr>
            <a:lvl5pPr marL="3293110" indent="0" algn="ctr">
              <a:buNone/>
              <a:defRPr sz="2880"/>
            </a:lvl5pPr>
            <a:lvl6pPr marL="4116705" indent="0" algn="ctr">
              <a:buNone/>
              <a:defRPr sz="2880"/>
            </a:lvl6pPr>
            <a:lvl7pPr marL="4939665" indent="0" algn="ctr">
              <a:buNone/>
              <a:defRPr sz="2880"/>
            </a:lvl7pPr>
            <a:lvl8pPr marL="5763260" indent="0" algn="ctr">
              <a:buNone/>
              <a:defRPr sz="2880"/>
            </a:lvl8pPr>
            <a:lvl9pPr marL="6586220"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5">
                <a:solidFill>
                  <a:schemeClr val="tx1"/>
                </a:solidFill>
              </a:defRPr>
            </a:lvl1pPr>
            <a:lvl2pPr marL="823595" indent="0">
              <a:buNone/>
              <a:defRPr sz="3600">
                <a:solidFill>
                  <a:schemeClr val="tx1">
                    <a:tint val="75000"/>
                  </a:schemeClr>
                </a:solidFill>
              </a:defRPr>
            </a:lvl2pPr>
            <a:lvl3pPr marL="1646555" indent="0">
              <a:buNone/>
              <a:defRPr sz="3240">
                <a:solidFill>
                  <a:schemeClr val="tx1">
                    <a:tint val="75000"/>
                  </a:schemeClr>
                </a:solidFill>
              </a:defRPr>
            </a:lvl3pPr>
            <a:lvl4pPr marL="2470150" indent="0">
              <a:buNone/>
              <a:defRPr sz="2880">
                <a:solidFill>
                  <a:schemeClr val="tx1">
                    <a:tint val="75000"/>
                  </a:schemeClr>
                </a:solidFill>
              </a:defRPr>
            </a:lvl4pPr>
            <a:lvl5pPr marL="3293110" indent="0">
              <a:buNone/>
              <a:defRPr sz="2880">
                <a:solidFill>
                  <a:schemeClr val="tx1">
                    <a:tint val="75000"/>
                  </a:schemeClr>
                </a:solidFill>
              </a:defRPr>
            </a:lvl5pPr>
            <a:lvl6pPr marL="4116705" indent="0">
              <a:buNone/>
              <a:defRPr sz="2880">
                <a:solidFill>
                  <a:schemeClr val="tx1">
                    <a:tint val="75000"/>
                  </a:schemeClr>
                </a:solidFill>
              </a:defRPr>
            </a:lvl6pPr>
            <a:lvl7pPr marL="4939665" indent="0">
              <a:buNone/>
              <a:defRPr sz="2880">
                <a:solidFill>
                  <a:schemeClr val="tx1">
                    <a:tint val="75000"/>
                  </a:schemeClr>
                </a:solidFill>
              </a:defRPr>
            </a:lvl7pPr>
            <a:lvl8pPr marL="5763260" indent="0">
              <a:buNone/>
              <a:defRPr sz="2880">
                <a:solidFill>
                  <a:schemeClr val="tx1">
                    <a:tint val="75000"/>
                  </a:schemeClr>
                </a:solidFill>
              </a:defRPr>
            </a:lvl8pPr>
            <a:lvl9pPr marL="6586220"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5" b="1"/>
            </a:lvl1pPr>
            <a:lvl2pPr marL="823595" indent="0">
              <a:buNone/>
              <a:defRPr sz="3600" b="1"/>
            </a:lvl2pPr>
            <a:lvl3pPr marL="1646555" indent="0">
              <a:buNone/>
              <a:defRPr sz="3240" b="1"/>
            </a:lvl3pPr>
            <a:lvl4pPr marL="2470150" indent="0">
              <a:buNone/>
              <a:defRPr sz="2880" b="1"/>
            </a:lvl4pPr>
            <a:lvl5pPr marL="3293110" indent="0">
              <a:buNone/>
              <a:defRPr sz="2880" b="1"/>
            </a:lvl5pPr>
            <a:lvl6pPr marL="4116705" indent="0">
              <a:buNone/>
              <a:defRPr sz="2880" b="1"/>
            </a:lvl6pPr>
            <a:lvl7pPr marL="4939665" indent="0">
              <a:buNone/>
              <a:defRPr sz="2880" b="1"/>
            </a:lvl7pPr>
            <a:lvl8pPr marL="5763260" indent="0">
              <a:buNone/>
              <a:defRPr sz="2880" b="1"/>
            </a:lvl8pPr>
            <a:lvl9pPr marL="6586220"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5" b="1"/>
            </a:lvl1pPr>
            <a:lvl2pPr marL="823595" indent="0">
              <a:buNone/>
              <a:defRPr sz="3600" b="1"/>
            </a:lvl2pPr>
            <a:lvl3pPr marL="1646555" indent="0">
              <a:buNone/>
              <a:defRPr sz="3240" b="1"/>
            </a:lvl3pPr>
            <a:lvl4pPr marL="2470150" indent="0">
              <a:buNone/>
              <a:defRPr sz="2880" b="1"/>
            </a:lvl4pPr>
            <a:lvl5pPr marL="3293110" indent="0">
              <a:buNone/>
              <a:defRPr sz="2880" b="1"/>
            </a:lvl5pPr>
            <a:lvl6pPr marL="4116705" indent="0">
              <a:buNone/>
              <a:defRPr sz="2880" b="1"/>
            </a:lvl6pPr>
            <a:lvl7pPr marL="4939665" indent="0">
              <a:buNone/>
              <a:defRPr sz="2880" b="1"/>
            </a:lvl7pPr>
            <a:lvl8pPr marL="5763260" indent="0">
              <a:buNone/>
              <a:defRPr sz="2880" b="1"/>
            </a:lvl8pPr>
            <a:lvl9pPr marL="6586220"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29-05-2025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29-05-2025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0"/>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0"/>
            </a:lvl1pPr>
            <a:lvl2pPr>
              <a:defRPr sz="5040"/>
            </a:lvl2pPr>
            <a:lvl3pPr>
              <a:defRPr sz="4325"/>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595" indent="0">
              <a:buNone/>
              <a:defRPr sz="2520"/>
            </a:lvl2pPr>
            <a:lvl3pPr marL="1646555" indent="0">
              <a:buNone/>
              <a:defRPr sz="2160"/>
            </a:lvl3pPr>
            <a:lvl4pPr marL="2470150" indent="0">
              <a:buNone/>
              <a:defRPr sz="1800"/>
            </a:lvl4pPr>
            <a:lvl5pPr marL="3293110" indent="0">
              <a:buNone/>
              <a:defRPr sz="1800"/>
            </a:lvl5pPr>
            <a:lvl6pPr marL="4116705" indent="0">
              <a:buNone/>
              <a:defRPr sz="1800"/>
            </a:lvl6pPr>
            <a:lvl7pPr marL="4939665" indent="0">
              <a:buNone/>
              <a:defRPr sz="1800"/>
            </a:lvl7pPr>
            <a:lvl8pPr marL="5763260" indent="0">
              <a:buNone/>
              <a:defRPr sz="1800"/>
            </a:lvl8pPr>
            <a:lvl9pPr marL="658622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0"/>
            </a:lvl1pPr>
            <a:lvl2pPr marL="823595" indent="0">
              <a:buNone/>
              <a:defRPr sz="5040"/>
            </a:lvl2pPr>
            <a:lvl3pPr marL="1646555" indent="0">
              <a:buNone/>
              <a:defRPr sz="4325"/>
            </a:lvl3pPr>
            <a:lvl4pPr marL="2470150" indent="0">
              <a:buNone/>
              <a:defRPr sz="3600"/>
            </a:lvl4pPr>
            <a:lvl5pPr marL="3293110" indent="0">
              <a:buNone/>
              <a:defRPr sz="3600"/>
            </a:lvl5pPr>
            <a:lvl6pPr marL="4116705" indent="0">
              <a:buNone/>
              <a:defRPr sz="3600"/>
            </a:lvl6pPr>
            <a:lvl7pPr marL="4939665" indent="0">
              <a:buNone/>
              <a:defRPr sz="3600"/>
            </a:lvl7pPr>
            <a:lvl8pPr marL="5763260" indent="0">
              <a:buNone/>
              <a:defRPr sz="3600"/>
            </a:lvl8pPr>
            <a:lvl9pPr marL="6586220" indent="0">
              <a:buNone/>
              <a:defRPr sz="3600"/>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595" indent="0">
              <a:buNone/>
              <a:defRPr sz="2520"/>
            </a:lvl2pPr>
            <a:lvl3pPr marL="1646555" indent="0">
              <a:buNone/>
              <a:defRPr sz="2160"/>
            </a:lvl3pPr>
            <a:lvl4pPr marL="2470150" indent="0">
              <a:buNone/>
              <a:defRPr sz="1800"/>
            </a:lvl4pPr>
            <a:lvl5pPr marL="3293110" indent="0">
              <a:buNone/>
              <a:defRPr sz="1800"/>
            </a:lvl5pPr>
            <a:lvl6pPr marL="4116705" indent="0">
              <a:buNone/>
              <a:defRPr sz="1800"/>
            </a:lvl6pPr>
            <a:lvl7pPr marL="4939665" indent="0">
              <a:buNone/>
              <a:defRPr sz="1800"/>
            </a:lvl7pPr>
            <a:lvl8pPr marL="5763260" indent="0">
              <a:buNone/>
              <a:defRPr sz="1800"/>
            </a:lvl8pPr>
            <a:lvl9pPr marL="658622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60">
                <a:solidFill>
                  <a:schemeClr val="tx1">
                    <a:tint val="75000"/>
                  </a:schemeClr>
                </a:solidFill>
              </a:defRPr>
            </a:lvl1pPr>
          </a:lstStyle>
          <a:p>
            <a:fld id="{3E22DA87-17A3-43A0-B86E-2FCFB6EFBC32}" type="datetimeFigureOut">
              <a:rPr lang="en-IN" smtClean="0"/>
              <a:t>29-05-2025</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6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60">
                <a:solidFill>
                  <a:schemeClr val="tx1">
                    <a:tint val="75000"/>
                  </a:schemeClr>
                </a:solidFill>
              </a:defRPr>
            </a:lvl1pPr>
          </a:lstStyle>
          <a:p>
            <a:fld id="{4F033070-D223-4E7B-BBE1-DD4C7F7A138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646555"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480" indent="-411480" algn="l" defTabSz="1646555" rtl="0" eaLnBrk="1" latinLnBrk="0" hangingPunct="1">
        <a:lnSpc>
          <a:spcPct val="90000"/>
        </a:lnSpc>
        <a:spcBef>
          <a:spcPts val="1800"/>
        </a:spcBef>
        <a:buFont typeface="Arial" panose="020B0604020202020204" pitchFamily="34" charset="0"/>
        <a:buChar char="•"/>
        <a:defRPr sz="5040" kern="1200">
          <a:solidFill>
            <a:schemeClr val="tx1"/>
          </a:solidFill>
          <a:latin typeface="+mn-lt"/>
          <a:ea typeface="+mn-ea"/>
          <a:cs typeface="+mn-cs"/>
        </a:defRPr>
      </a:lvl1pPr>
      <a:lvl2pPr marL="1235075" indent="-411480" algn="l" defTabSz="1646555" rtl="0" eaLnBrk="1" latinLnBrk="0" hangingPunct="1">
        <a:lnSpc>
          <a:spcPct val="90000"/>
        </a:lnSpc>
        <a:spcBef>
          <a:spcPts val="900"/>
        </a:spcBef>
        <a:buFont typeface="Arial" panose="020B0604020202020204" pitchFamily="34" charset="0"/>
        <a:buChar char="•"/>
        <a:defRPr sz="4325" kern="1200">
          <a:solidFill>
            <a:schemeClr val="tx1"/>
          </a:solidFill>
          <a:latin typeface="+mn-lt"/>
          <a:ea typeface="+mn-ea"/>
          <a:cs typeface="+mn-cs"/>
        </a:defRPr>
      </a:lvl2pPr>
      <a:lvl3pPr marL="2058035" indent="-411480" algn="l" defTabSz="1646555" rtl="0" eaLnBrk="1" latinLnBrk="0" hangingPunct="1">
        <a:lnSpc>
          <a:spcPct val="90000"/>
        </a:lnSpc>
        <a:spcBef>
          <a:spcPts val="900"/>
        </a:spcBef>
        <a:buFont typeface="Arial" panose="020B0604020202020204" pitchFamily="34" charset="0"/>
        <a:buChar char="•"/>
        <a:defRPr sz="3600" kern="1200">
          <a:solidFill>
            <a:schemeClr val="tx1"/>
          </a:solidFill>
          <a:latin typeface="+mn-lt"/>
          <a:ea typeface="+mn-ea"/>
          <a:cs typeface="+mn-cs"/>
        </a:defRPr>
      </a:lvl3pPr>
      <a:lvl4pPr marL="2881630"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4pPr>
      <a:lvl5pPr marL="3704590"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5pPr>
      <a:lvl6pPr marL="4528185"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6pPr>
      <a:lvl7pPr marL="5351145"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7pPr>
      <a:lvl8pPr marL="6174740"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8pPr>
      <a:lvl9pPr marL="6997700" indent="-411480" algn="l" defTabSz="1646555"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9pPr>
    </p:bodyStyle>
    <p:otherStyle>
      <a:defPPr>
        <a:defRPr lang="en-US"/>
      </a:defPPr>
      <a:lvl1pPr marL="0" algn="l" defTabSz="1646555" rtl="0" eaLnBrk="1" latinLnBrk="0" hangingPunct="1">
        <a:defRPr sz="3240" kern="1200">
          <a:solidFill>
            <a:schemeClr val="tx1"/>
          </a:solidFill>
          <a:latin typeface="+mn-lt"/>
          <a:ea typeface="+mn-ea"/>
          <a:cs typeface="+mn-cs"/>
        </a:defRPr>
      </a:lvl1pPr>
      <a:lvl2pPr marL="823595" algn="l" defTabSz="1646555" rtl="0" eaLnBrk="1" latinLnBrk="0" hangingPunct="1">
        <a:defRPr sz="3240" kern="1200">
          <a:solidFill>
            <a:schemeClr val="tx1"/>
          </a:solidFill>
          <a:latin typeface="+mn-lt"/>
          <a:ea typeface="+mn-ea"/>
          <a:cs typeface="+mn-cs"/>
        </a:defRPr>
      </a:lvl2pPr>
      <a:lvl3pPr marL="1646555" algn="l" defTabSz="1646555" rtl="0" eaLnBrk="1" latinLnBrk="0" hangingPunct="1">
        <a:defRPr sz="3240" kern="1200">
          <a:solidFill>
            <a:schemeClr val="tx1"/>
          </a:solidFill>
          <a:latin typeface="+mn-lt"/>
          <a:ea typeface="+mn-ea"/>
          <a:cs typeface="+mn-cs"/>
        </a:defRPr>
      </a:lvl3pPr>
      <a:lvl4pPr marL="2470150" algn="l" defTabSz="1646555" rtl="0" eaLnBrk="1" latinLnBrk="0" hangingPunct="1">
        <a:defRPr sz="3240" kern="1200">
          <a:solidFill>
            <a:schemeClr val="tx1"/>
          </a:solidFill>
          <a:latin typeface="+mn-lt"/>
          <a:ea typeface="+mn-ea"/>
          <a:cs typeface="+mn-cs"/>
        </a:defRPr>
      </a:lvl4pPr>
      <a:lvl5pPr marL="3293110" algn="l" defTabSz="1646555" rtl="0" eaLnBrk="1" latinLnBrk="0" hangingPunct="1">
        <a:defRPr sz="3240" kern="1200">
          <a:solidFill>
            <a:schemeClr val="tx1"/>
          </a:solidFill>
          <a:latin typeface="+mn-lt"/>
          <a:ea typeface="+mn-ea"/>
          <a:cs typeface="+mn-cs"/>
        </a:defRPr>
      </a:lvl5pPr>
      <a:lvl6pPr marL="4116705" algn="l" defTabSz="1646555" rtl="0" eaLnBrk="1" latinLnBrk="0" hangingPunct="1">
        <a:defRPr sz="3240" kern="1200">
          <a:solidFill>
            <a:schemeClr val="tx1"/>
          </a:solidFill>
          <a:latin typeface="+mn-lt"/>
          <a:ea typeface="+mn-ea"/>
          <a:cs typeface="+mn-cs"/>
        </a:defRPr>
      </a:lvl6pPr>
      <a:lvl7pPr marL="4939665" algn="l" defTabSz="1646555" rtl="0" eaLnBrk="1" latinLnBrk="0" hangingPunct="1">
        <a:defRPr sz="3240" kern="1200">
          <a:solidFill>
            <a:schemeClr val="tx1"/>
          </a:solidFill>
          <a:latin typeface="+mn-lt"/>
          <a:ea typeface="+mn-ea"/>
          <a:cs typeface="+mn-cs"/>
        </a:defRPr>
      </a:lvl7pPr>
      <a:lvl8pPr marL="5763260" algn="l" defTabSz="1646555" rtl="0" eaLnBrk="1" latinLnBrk="0" hangingPunct="1">
        <a:defRPr sz="3240" kern="1200">
          <a:solidFill>
            <a:schemeClr val="tx1"/>
          </a:solidFill>
          <a:latin typeface="+mn-lt"/>
          <a:ea typeface="+mn-ea"/>
          <a:cs typeface="+mn-cs"/>
        </a:defRPr>
      </a:lvl8pPr>
      <a:lvl9pPr marL="6586220" algn="l" defTabSz="1646555" rtl="0" eaLnBrk="1" latinLnBrk="0" hangingPunct="1">
        <a:defRPr sz="32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1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17" Type="http://schemas.openxmlformats.org/officeDocument/2006/relationships/image" Target="../media/image16.jpeg"/><Relationship Id="rId2" Type="http://schemas.openxmlformats.org/officeDocument/2006/relationships/image" Target="../media/image1.png"/><Relationship Id="rId16" Type="http://schemas.openxmlformats.org/officeDocument/2006/relationships/image" Target="../media/image15.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jpeg"/><Relationship Id="rId10" Type="http://schemas.openxmlformats.org/officeDocument/2006/relationships/image" Target="../media/image9.jpe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sz="1800"/>
          </a:p>
        </p:txBody>
      </p:sp>
      <p:pic>
        <p:nvPicPr>
          <p:cNvPr id="101" name="Picture 10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728" y="184666"/>
            <a:ext cx="15825743" cy="1776104"/>
          </a:xfrm>
          <a:prstGeom prst="rect">
            <a:avLst/>
          </a:prstGeom>
        </p:spPr>
      </p:pic>
      <p:sp>
        <p:nvSpPr>
          <p:cNvPr id="32" name="Rectangle 31"/>
          <p:cNvSpPr/>
          <p:nvPr/>
        </p:nvSpPr>
        <p:spPr>
          <a:xfrm>
            <a:off x="-3508" y="12225715"/>
            <a:ext cx="8257345" cy="2919040"/>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31" name="Rectangle 30"/>
          <p:cNvSpPr/>
          <p:nvPr/>
        </p:nvSpPr>
        <p:spPr>
          <a:xfrm>
            <a:off x="-4445" y="9370695"/>
            <a:ext cx="8257540" cy="285940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3" y="3495088"/>
            <a:ext cx="8257345"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19" name="Rectangle 18"/>
          <p:cNvSpPr/>
          <p:nvPr/>
        </p:nvSpPr>
        <p:spPr>
          <a:xfrm>
            <a:off x="10041" y="3550282"/>
            <a:ext cx="1896340" cy="27275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INTRODUCTION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 y="2691638"/>
            <a:ext cx="8253178" cy="802627"/>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a:p>
        </p:txBody>
      </p:sp>
      <p:sp>
        <p:nvSpPr>
          <p:cNvPr id="22" name="Rectangle 21"/>
          <p:cNvSpPr/>
          <p:nvPr/>
        </p:nvSpPr>
        <p:spPr>
          <a:xfrm>
            <a:off x="71627" y="9396110"/>
            <a:ext cx="1005333" cy="2614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RESULTS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45688" y="12266131"/>
            <a:ext cx="2954481" cy="27317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DISCUSSION AND CONCLUSION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56414" y="2664842"/>
            <a:ext cx="7554555" cy="1014730"/>
          </a:xfrm>
          <a:prstGeom prst="rect">
            <a:avLst/>
          </a:prstGeom>
          <a:noFill/>
        </p:spPr>
        <p:txBody>
          <a:bodyPr wrap="square" rtlCol="0">
            <a:spAutoFit/>
          </a:bodyPr>
          <a:lstStyle/>
          <a:p>
            <a:pPr algn="ctr"/>
            <a:r>
              <a:rPr lang="en-US" altLang="en-US" sz="2000" b="1" dirty="0">
                <a:latin typeface="Times New Roman" panose="02020603050405020304" pitchFamily="18" charset="0"/>
                <a:cs typeface="Times New Roman" panose="02020603050405020304" pitchFamily="18" charset="0"/>
                <a:sym typeface="+mn-ea"/>
              </a:rPr>
              <a:t>Enhanced Blood Cancer Detection Using SVM And Decision Tree Algorithm</a:t>
            </a:r>
            <a:endParaRPr lang="en-US" alt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4167" y="3859638"/>
            <a:ext cx="6138750" cy="4604402"/>
          </a:xfrm>
          <a:prstGeom prst="rect">
            <a:avLst/>
          </a:prstGeom>
          <a:noFill/>
        </p:spPr>
        <p:txBody>
          <a:bodyPr wrap="square" rtlCol="0">
            <a:spAutoFit/>
          </a:bodyPr>
          <a:lstStyle/>
          <a:p>
            <a:pPr marL="285750" lvl="0" indent="-285750" algn="l"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 Blood cancer, including leukemia, lymphoma, and myeloma, is one of the most challenging diseases to     diagnose and treat.</a:t>
            </a:r>
            <a:endParaRPr lang="en-US" altLang="en-US" sz="1200" b="1" dirty="0">
              <a:latin typeface="Times New Roman" panose="02020603050405020304" pitchFamily="18" charset="0"/>
              <a:cs typeface="Times New Roman" panose="02020603050405020304" pitchFamily="18" charset="0"/>
            </a:endParaRPr>
          </a:p>
          <a:p>
            <a:pPr marL="285750" lvl="0" indent="-285750" algn="l"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 classification algorithms like Support Vector Machine (SVM) and Decision Tree (DT) have gained  popularity in medical diagnostics due to their high accuracy, ability to handle complex data.</a:t>
            </a:r>
            <a:endParaRPr lang="en-US" altLang="en-US" sz="1200" b="1" dirty="0">
              <a:latin typeface="Times New Roman" panose="02020603050405020304" pitchFamily="18" charset="0"/>
              <a:cs typeface="Times New Roman" panose="02020603050405020304" pitchFamily="18" charset="0"/>
            </a:endParaRPr>
          </a:p>
          <a:p>
            <a:pPr marL="285750" lvl="0" indent="-285750" algn="l"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 Early detection plays a critical role in improving survival rates and the overall prognosis of patients.</a:t>
            </a:r>
            <a:endParaRPr lang="en-US" altLang="en-US" sz="1200" b="1" dirty="0">
              <a:latin typeface="Times New Roman" panose="02020603050405020304" pitchFamily="18" charset="0"/>
              <a:cs typeface="Times New Roman" panose="02020603050405020304" pitchFamily="18" charset="0"/>
            </a:endParaRPr>
          </a:p>
          <a:p>
            <a:pPr marL="285750" lvl="0" indent="-285750" algn="l"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 This study aims to fill that gap by evaluating and comparing these two machine learning algorithms on their ability to predict blood cancer.   </a:t>
            </a:r>
          </a:p>
          <a:p>
            <a:pPr marL="342900" lvl="0" indent="-342900" algn="l"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This research focuses on evaluating and comparing </a:t>
            </a:r>
            <a:r>
              <a:rPr lang="en-US" altLang="en-US" sz="1200" dirty="0">
                <a:latin typeface="Times New Roman" panose="02020603050405020304" pitchFamily="18" charset="0"/>
                <a:cs typeface="Times New Roman" panose="02020603050405020304" pitchFamily="18" charset="0"/>
                <a:sym typeface="+mn-ea"/>
              </a:rPr>
              <a:t>the performance of two supervised machine learning algorithms—Logistic Regression (LR) and Gradient Boosting (GB)—for blood cancer detection. </a:t>
            </a:r>
            <a:endParaRPr lang="en-US" altLang="en-US" sz="1200" dirty="0">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50000"/>
              </a:lnSpc>
              <a:spcBef>
                <a:spcPct val="0"/>
              </a:spcBef>
              <a:spcAft>
                <a:spcPct val="0"/>
              </a:spcAft>
              <a:buClrTx/>
              <a:buSz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pPr>
            <a:endParaRPr lang="en-US" altLang="en-US" sz="1200" dirty="0">
              <a:latin typeface="Times New Roman" panose="02020603050405020304" pitchFamily="18" charset="0"/>
              <a:cs typeface="Times New Roman" panose="02020603050405020304" pitchFamily="18" charset="0"/>
            </a:endParaRPr>
          </a:p>
          <a:p>
            <a:pPr marL="285750" lvl="0" indent="-285750" algn="l" defTabSz="914400" eaLnBrk="0" fontAlgn="base" hangingPunct="0">
              <a:lnSpc>
                <a:spcPct val="150000"/>
              </a:lnSpc>
              <a:spcBef>
                <a:spcPct val="0"/>
              </a:spcBef>
              <a:spcAft>
                <a:spcPct val="0"/>
              </a:spcAft>
              <a:buFont typeface="Wingdings" panose="05000000000000000000" pitchFamily="2" charset="2"/>
              <a:buChar char="Ø"/>
            </a:pPr>
            <a:endParaRPr lang="en-US" altLang="en-US" sz="1200" dirty="0">
              <a:latin typeface="Times New Roman" panose="02020603050405020304" pitchFamily="18" charset="0"/>
              <a:cs typeface="Times New Roman" panose="02020603050405020304" pitchFamily="18" charset="0"/>
            </a:endParaRPr>
          </a:p>
          <a:p>
            <a:pPr lvl="0" indent="0" algn="l" defTabSz="914400" eaLnBrk="0" fontAlgn="base" hangingPunct="0">
              <a:spcBef>
                <a:spcPct val="0"/>
              </a:spcBef>
              <a:spcAft>
                <a:spcPct val="0"/>
              </a:spcAft>
              <a:buFont typeface="Wingdings" panose="05000000000000000000" pitchFamily="2" charset="2"/>
              <a:buNone/>
            </a:pPr>
            <a:endParaRPr lang="en-US" altLang="en-US" sz="1000"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Ø"/>
            </a:pPr>
            <a:endParaRPr lang="en-US" sz="1000" i="0" dirty="0">
              <a:effectLst/>
              <a:latin typeface="Times New Roman" panose="02020603050405020304" pitchFamily="18" charset="0"/>
              <a:cs typeface="Times New Roman" panose="02020603050405020304" pitchFamily="18" charset="0"/>
            </a:endParaRPr>
          </a:p>
        </p:txBody>
      </p:sp>
      <p:sp>
        <p:nvSpPr>
          <p:cNvPr id="38" name="TextBox 37"/>
          <p:cNvSpPr txBox="1"/>
          <p:nvPr/>
        </p:nvSpPr>
        <p:spPr>
          <a:xfrm>
            <a:off x="69652" y="12496641"/>
            <a:ext cx="8038028" cy="2275110"/>
          </a:xfrm>
          <a:prstGeom prst="rect">
            <a:avLst/>
          </a:prstGeom>
          <a:noFill/>
        </p:spPr>
        <p:txBody>
          <a:bodyPr wrap="square" rtlCol="0">
            <a:spAutoFit/>
          </a:bodyPr>
          <a:lstStyle/>
          <a:p>
            <a:pPr marL="342900" indent="-342900" algn="just" rtl="0">
              <a:lnSpc>
                <a:spcPct val="150000"/>
              </a:lnSpc>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rPr>
              <a:t>An independent samples t-test was conducted to compare the performance of SVM and DT algorithms in </a:t>
            </a:r>
            <a:r>
              <a:rPr lang="en-US" altLang="en-IN" sz="1200" dirty="0">
                <a:sym typeface="+mn-ea"/>
              </a:rPr>
              <a:t>BLOOD CANCER ANALYSIS</a:t>
            </a:r>
            <a:r>
              <a:rPr lang="en-US" sz="1200" dirty="0">
                <a:effectLst/>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342900" indent="-342900" algn="just" rtl="0">
              <a:lnSpc>
                <a:spcPct val="150000"/>
              </a:lnSpc>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rPr>
              <a:t>A sample size of 10 was used in the study.</a:t>
            </a:r>
            <a:endParaRPr lang="en-US" sz="1200" dirty="0">
              <a:latin typeface="Times New Roman" panose="02020603050405020304" pitchFamily="18" charset="0"/>
              <a:cs typeface="Times New Roman" panose="02020603050405020304" pitchFamily="18" charset="0"/>
            </a:endParaRPr>
          </a:p>
          <a:p>
            <a:pPr marL="342900" indent="-342900" algn="just" rtl="0">
              <a:lnSpc>
                <a:spcPct val="150000"/>
              </a:lnSpc>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rPr>
              <a:t>The p-value was 0.002 (p &lt; 0.05), indicating a statistically significant difference between the two algorithms.</a:t>
            </a:r>
            <a:endParaRPr lang="en-US" sz="1200" dirty="0">
              <a:latin typeface="Times New Roman" panose="02020603050405020304" pitchFamily="18" charset="0"/>
              <a:cs typeface="Times New Roman" panose="02020603050405020304" pitchFamily="18" charset="0"/>
            </a:endParaRPr>
          </a:p>
          <a:p>
            <a:pPr marL="342900" indent="-342900" algn="just" rtl="0">
              <a:lnSpc>
                <a:spcPct val="150000"/>
              </a:lnSpc>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rPr>
              <a:t>Accuracy Comparison:</a:t>
            </a:r>
            <a:endParaRPr lang="en-US" sz="1200" dirty="0">
              <a:latin typeface="Times New Roman" panose="02020603050405020304" pitchFamily="18" charset="0"/>
              <a:cs typeface="Times New Roman" panose="02020603050405020304" pitchFamily="18" charset="0"/>
            </a:endParaRPr>
          </a:p>
          <a:p>
            <a:pPr algn="just" rtl="0">
              <a:lnSpc>
                <a:spcPct val="150000"/>
              </a:lnSpc>
              <a:buNone/>
            </a:pPr>
            <a:r>
              <a:rPr lang="en-US" sz="1200" dirty="0">
                <a:effectLst/>
                <a:latin typeface="Times New Roman" panose="02020603050405020304" pitchFamily="18" charset="0"/>
                <a:cs typeface="Times New Roman" panose="02020603050405020304" pitchFamily="18" charset="0"/>
              </a:rPr>
              <a:t>			DT: 90.43%     			SVM: 85.18%</a:t>
            </a:r>
            <a:endParaRPr lang="en-US" sz="1200" dirty="0">
              <a:latin typeface="Times New Roman" panose="02020603050405020304" pitchFamily="18" charset="0"/>
              <a:cs typeface="Times New Roman" panose="02020603050405020304" pitchFamily="18" charset="0"/>
            </a:endParaRPr>
          </a:p>
          <a:p>
            <a:pPr algn="just" rtl="0">
              <a:lnSpc>
                <a:spcPct val="150000"/>
              </a:lnSpc>
              <a:buNone/>
            </a:pPr>
            <a:r>
              <a:rPr lang="en-US" sz="1200" dirty="0">
                <a:effectLst/>
                <a:latin typeface="Times New Roman" panose="02020603050405020304" pitchFamily="18" charset="0"/>
                <a:cs typeface="Times New Roman" panose="02020603050405020304" pitchFamily="18" charset="0"/>
              </a:rPr>
              <a:t>The DT algorithm outperformed SVM in terms of prediction accuracy.</a:t>
            </a:r>
            <a:endParaRPr lang="en-US" sz="1200" dirty="0">
              <a:latin typeface="Times New Roman" panose="02020603050405020304" pitchFamily="18" charset="0"/>
              <a:cs typeface="Times New Roman" panose="02020603050405020304" pitchFamily="18" charset="0"/>
            </a:endParaRPr>
          </a:p>
          <a:p>
            <a:pPr algn="just" rtl="0">
              <a:lnSpc>
                <a:spcPct val="150000"/>
              </a:lnSpc>
            </a:pPr>
            <a:r>
              <a:rPr lang="en-US" sz="1200" dirty="0">
                <a:effectLst/>
                <a:latin typeface="Times New Roman" panose="02020603050405020304" pitchFamily="18" charset="0"/>
                <a:cs typeface="Times New Roman" panose="02020603050405020304" pitchFamily="18" charset="0"/>
              </a:rPr>
              <a:t>The result confirms that DT provides significantly better and more consistent performance for stock blood cancer analysis.</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0" name="Rectangle 29"/>
          <p:cNvSpPr/>
          <p:nvPr/>
        </p:nvSpPr>
        <p:spPr>
          <a:xfrm>
            <a:off x="0" y="6398261"/>
            <a:ext cx="8257540" cy="2943218"/>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33" name="Rectangle 32"/>
          <p:cNvSpPr/>
          <p:nvPr/>
        </p:nvSpPr>
        <p:spPr>
          <a:xfrm>
            <a:off x="-24765" y="14778356"/>
            <a:ext cx="8257540" cy="2863766"/>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34" name="Rectangle 33"/>
          <p:cNvSpPr/>
          <p:nvPr/>
        </p:nvSpPr>
        <p:spPr>
          <a:xfrm>
            <a:off x="635" y="18711545"/>
            <a:ext cx="8213807" cy="29190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35" name="Rectangle 34"/>
          <p:cNvSpPr/>
          <p:nvPr/>
        </p:nvSpPr>
        <p:spPr>
          <a:xfrm>
            <a:off x="-24528" y="17936177"/>
            <a:ext cx="8238970" cy="775510"/>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a:p>
        </p:txBody>
      </p:sp>
      <p:sp>
        <p:nvSpPr>
          <p:cNvPr id="40" name="TextBox 39"/>
          <p:cNvSpPr txBox="1"/>
          <p:nvPr/>
        </p:nvSpPr>
        <p:spPr>
          <a:xfrm>
            <a:off x="497292" y="17909670"/>
            <a:ext cx="7761346" cy="1014730"/>
          </a:xfrm>
          <a:prstGeom prst="rect">
            <a:avLst/>
          </a:prstGeom>
          <a:noFill/>
        </p:spPr>
        <p:txBody>
          <a:bodyPr wrap="square" rtlCol="0">
            <a:spAutoFit/>
          </a:bodyPr>
          <a:lstStyle/>
          <a:p>
            <a:pPr algn="ctr"/>
            <a:r>
              <a:rPr lang="en-US" altLang="en-US" sz="2000" b="1" dirty="0">
                <a:latin typeface="Times New Roman" panose="02020603050405020304" pitchFamily="18" charset="0"/>
                <a:cs typeface="Times New Roman" panose="02020603050405020304" pitchFamily="18" charset="0"/>
                <a:sym typeface="+mn-ea"/>
              </a:rPr>
              <a:t>Revolutionizing Blood Cancer Dagnosis With Decision Tree Agorithm And K-Nearest</a:t>
            </a:r>
            <a:endParaRPr lang="en-US" alt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p:txBody>
      </p:sp>
      <p:sp>
        <p:nvSpPr>
          <p:cNvPr id="41" name="Rectangle 40"/>
          <p:cNvSpPr/>
          <p:nvPr/>
        </p:nvSpPr>
        <p:spPr>
          <a:xfrm>
            <a:off x="20213" y="21614589"/>
            <a:ext cx="8194230" cy="2919040"/>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42" name="Rectangle 41"/>
          <p:cNvSpPr/>
          <p:nvPr/>
        </p:nvSpPr>
        <p:spPr>
          <a:xfrm>
            <a:off x="0" y="24546665"/>
            <a:ext cx="8213807" cy="2930637"/>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43" name="Rectangle 42"/>
          <p:cNvSpPr/>
          <p:nvPr/>
        </p:nvSpPr>
        <p:spPr>
          <a:xfrm>
            <a:off x="-4445" y="27445970"/>
            <a:ext cx="8237219" cy="2919095"/>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44" name="Rectangle 43"/>
          <p:cNvSpPr/>
          <p:nvPr/>
        </p:nvSpPr>
        <p:spPr>
          <a:xfrm>
            <a:off x="-4445" y="29995495"/>
            <a:ext cx="8228731" cy="2922905"/>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20" name="Rectangle 19"/>
          <p:cNvSpPr/>
          <p:nvPr/>
        </p:nvSpPr>
        <p:spPr>
          <a:xfrm>
            <a:off x="20212" y="6431615"/>
            <a:ext cx="2722045" cy="27683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MATERIALS AND METHODS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92365" y="14840071"/>
            <a:ext cx="1698172" cy="28137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BIBLIOGRAPHY</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142875" y="15056485"/>
            <a:ext cx="7899400" cy="2932577"/>
          </a:xfrm>
          <a:prstGeom prst="rect">
            <a:avLst/>
          </a:prstGeom>
          <a:noFill/>
        </p:spPr>
        <p:txBody>
          <a:bodyPr wrap="square" rtlCol="0" anchor="t" anchorCtr="0">
            <a:noAutofit/>
          </a:bodyPr>
          <a:lstStyle/>
          <a:p>
            <a:pPr indent="-304800" algn="l">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Du, Xiaolan, Xirui Duan, Xinyan Zhou, Na Tan, Guochen Li, Ujen Duwal Shrestha, Zian Wang, Tengfei Ke, and Chengde Liao. 2024. A Study on the Correlation between MRI-Assessed Breast Volume Asymmetry and Patient </a:t>
            </a:r>
            <a:r>
              <a:rPr lang="en-US" altLang="en-IN"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Satisfaction after Immediate Breast Reconstruction in Breast Cancer Patients. Scientific Reports 14 (1): 30737.</a:t>
            </a:r>
          </a:p>
          <a:p>
            <a:pPr indent="-304800" algn="l">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Gong, Mingmin  g, Yiliao Song, Yun Sing Koh, Wei Xiang, and Derui Wang. 2024. AI 2024: Advances in Artificial Intelligence: 37th Australasian Joint Conference on Artificial Intelligence, AI 2024, Melbourne, VIC, Australia, November 25–29, 2024, Proceedings, Part I. Springer Nature.</a:t>
            </a:r>
          </a:p>
          <a:p>
            <a:pPr indent="-304800" algn="l">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J Gopi, E. S., and P. Maheswaran. 2024. Proceedings of the International Conference on Machine Learning, Deep Learning and Computational Intelligence for Wireless Communication: MD CWC 2023. Springer Nature.</a:t>
            </a:r>
          </a:p>
          <a:p>
            <a:pPr indent="-304800" algn="l" rtl="0">
              <a:lnSpc>
                <a:spcPct val="150000"/>
              </a:lnSpc>
              <a:buFont typeface="Wingdings" panose="05000000000000000000" pitchFamily="2" charset="2"/>
              <a:buChar char="Ø"/>
            </a:pPr>
            <a:endParaRPr lang="en-IN" sz="1200" dirty="0">
              <a:latin typeface="Times New Roman" panose="02020603050405020304" pitchFamily="18" charset="0"/>
              <a:cs typeface="Times New Roman" panose="02020603050405020304" pitchFamily="18" charset="0"/>
            </a:endParaRPr>
          </a:p>
        </p:txBody>
      </p:sp>
      <p:sp>
        <p:nvSpPr>
          <p:cNvPr id="45" name="Rectangle 44"/>
          <p:cNvSpPr/>
          <p:nvPr/>
        </p:nvSpPr>
        <p:spPr>
          <a:xfrm>
            <a:off x="54383" y="18780007"/>
            <a:ext cx="1681721" cy="3149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INTRODUCTION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46" name="Rectangle 45"/>
          <p:cNvSpPr/>
          <p:nvPr/>
        </p:nvSpPr>
        <p:spPr>
          <a:xfrm>
            <a:off x="56805" y="24583646"/>
            <a:ext cx="1085981" cy="31212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RESULTS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47" name="Rectangle 46"/>
          <p:cNvSpPr/>
          <p:nvPr/>
        </p:nvSpPr>
        <p:spPr>
          <a:xfrm>
            <a:off x="10041" y="27529502"/>
            <a:ext cx="3115141" cy="32661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DISCUSSION AND CONCLUSION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4682" y="19215995"/>
            <a:ext cx="5765725" cy="2462213"/>
          </a:xfrm>
          <a:prstGeom prst="rect">
            <a:avLst/>
          </a:prstGeom>
          <a:noFill/>
        </p:spPr>
        <p:txBody>
          <a:bodyPr wrap="square" rtlCol="0">
            <a:spAutoFit/>
          </a:bodyPr>
          <a:lstStyle/>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Machine learning (ML) offers a promising complement to traditional diagnostic techniques by leveraging computational models to detect complex patterns</a:t>
            </a:r>
            <a:endParaRPr lang="en-US" altLang="en-US" sz="1200" b="1"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The study compared the performance of DT and KNN classifiers on a blood cancer detection dataset.</a:t>
            </a:r>
            <a:endParaRPr lang="en-US" altLang="en-US" sz="1200" b="1"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The significance of this study lies in its potential to improve diagnostic accuracy and enhance early detection, which is critical for better patient outcomes</a:t>
            </a:r>
            <a:endParaRPr lang="en-US" altLang="en-US" sz="1200" b="1"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An independent‑samples t‑test was conducted in SPSS to assess the statistical significance of observed differences in mean accuracy between the two models.</a:t>
            </a: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1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0" name="TextBox 49"/>
          <p:cNvSpPr txBox="1"/>
          <p:nvPr/>
        </p:nvSpPr>
        <p:spPr>
          <a:xfrm>
            <a:off x="-37858" y="27783753"/>
            <a:ext cx="8247221" cy="2275110"/>
          </a:xfrm>
          <a:prstGeom prst="rect">
            <a:avLst/>
          </a:prstGeom>
          <a:noFill/>
        </p:spPr>
        <p:txBody>
          <a:bodyPr wrap="square" rtlCol="0">
            <a:spAutoFit/>
          </a:bodyPr>
          <a:lstStyle/>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Based on the independent sample t-test statistical analysis, the significance value of p = 0.070 (Independent sample t-test p &gt; 0.05) indicates that there is no statistically significant difference between Group 1 (DT) and Group (KNN). </a:t>
            </a:r>
          </a:p>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The sample size used in this study is 10.</a:t>
            </a:r>
          </a:p>
          <a:p>
            <a:pPr algn="just">
              <a:lnSpc>
                <a:spcPct val="150000"/>
              </a:lnSpc>
              <a:buNone/>
            </a:pPr>
            <a:r>
              <a:rPr lang="en-US" sz="1200" dirty="0">
                <a:latin typeface="Times New Roman" panose="02020603050405020304" pitchFamily="18" charset="0"/>
                <a:cs typeface="Times New Roman" panose="02020603050405020304" pitchFamily="18" charset="0"/>
              </a:rPr>
              <a:t>Overall, the accuracy of the Linear Regression model is 96.12%, which is slightly higher than that of the CNN model.   </a:t>
            </a:r>
            <a:endParaRPr lang="en-US" sz="1200" dirty="0">
              <a:effectLst/>
              <a:latin typeface="Times New Roman" panose="02020603050405020304" pitchFamily="18" charset="0"/>
              <a:cs typeface="Times New Roman" panose="02020603050405020304" pitchFamily="18" charset="0"/>
            </a:endParaRPr>
          </a:p>
          <a:p>
            <a:pPr algn="just">
              <a:lnSpc>
                <a:spcPct val="150000"/>
              </a:lnSpc>
            </a:pPr>
            <a:r>
              <a:rPr lang="en-US" sz="1200" dirty="0">
                <a:effectLst/>
                <a:latin typeface="Times New Roman" panose="02020603050405020304" pitchFamily="18" charset="0"/>
                <a:cs typeface="Times New Roman" panose="02020603050405020304" pitchFamily="18" charset="0"/>
              </a:rPr>
              <a:t>Accuracy Comparison:</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DT – 96.12%                    KNN – 95.31%</a:t>
            </a:r>
          </a:p>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From the results, it is concluded that the DT algorithm achieves higher accuracy compared to the KNN model in predicting stock market trends.</a:t>
            </a:r>
          </a:p>
        </p:txBody>
      </p:sp>
      <p:sp>
        <p:nvSpPr>
          <p:cNvPr id="52" name="TextBox 51"/>
          <p:cNvSpPr txBox="1"/>
          <p:nvPr/>
        </p:nvSpPr>
        <p:spPr>
          <a:xfrm>
            <a:off x="224660" y="22536784"/>
            <a:ext cx="7883020" cy="1323439"/>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lang="en-US" altLang="en-US" sz="1600" dirty="0">
                <a:latin typeface="Times New Roman" panose="02020603050405020304" pitchFamily="18" charset="0"/>
                <a:cs typeface="Times New Roman" panose="02020603050405020304" pitchFamily="18" charset="0"/>
              </a:rPr>
              <a:t>1.</a:t>
            </a:r>
          </a:p>
          <a:p>
            <a:pPr marL="0" marR="0" lvl="0" indent="0" algn="just" defTabSz="914400" rtl="0" eaLnBrk="0" fontAlgn="base" latinLnBrk="0" hangingPunct="0">
              <a:lnSpc>
                <a:spcPct val="100000"/>
              </a:lnSpc>
              <a:spcBef>
                <a:spcPct val="0"/>
              </a:spcBef>
              <a:spcAft>
                <a:spcPct val="0"/>
              </a:spcAft>
              <a:buClrTx/>
              <a:buSzTx/>
              <a:buFontTx/>
              <a:buChar char="•"/>
            </a:pPr>
            <a:r>
              <a:rPr lang="en-US" altLang="en-US" sz="1600" dirty="0">
                <a:latin typeface="Times New Roman" panose="02020603050405020304" pitchFamily="18" charset="0"/>
                <a:cs typeface="Times New Roman" panose="02020603050405020304" pitchFamily="18" charset="0"/>
              </a:rPr>
              <a:t>2</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t>
            </a:r>
          </a:p>
          <a:p>
            <a:pPr marL="0" marR="0" lvl="0" indent="0" algn="just" defTabSz="914400" rtl="0" eaLnBrk="0" fontAlgn="base" latinLnBrk="0" hangingPunct="0">
              <a:lnSpc>
                <a:spcPct val="100000"/>
              </a:lnSpc>
              <a:spcBef>
                <a:spcPct val="0"/>
              </a:spcBef>
              <a:spcAft>
                <a:spcPct val="0"/>
              </a:spcAft>
              <a:buClrTx/>
              <a:buSzTx/>
              <a:buFontTx/>
              <a:buChar char="•"/>
            </a:pPr>
            <a:r>
              <a:rPr lang="en-US" altLang="en-US" sz="1600" dirty="0">
                <a:latin typeface="Times New Roman" panose="02020603050405020304" pitchFamily="18" charset="0"/>
                <a:cs typeface="Times New Roman" panose="02020603050405020304" pitchFamily="18" charset="0"/>
              </a:rPr>
              <a:t>5</a:t>
            </a: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3" name="Rectangle 52"/>
          <p:cNvSpPr/>
          <p:nvPr/>
        </p:nvSpPr>
        <p:spPr>
          <a:xfrm>
            <a:off x="20212" y="30058692"/>
            <a:ext cx="1681721" cy="30944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BIBLIOGRAPHY</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41278" y="30293903"/>
            <a:ext cx="7615532" cy="2621359"/>
          </a:xfrm>
          <a:prstGeom prst="rect">
            <a:avLst/>
          </a:prstGeom>
          <a:noFill/>
        </p:spPr>
        <p:txBody>
          <a:bodyPr wrap="square" rtlCol="0">
            <a:spAutoFit/>
          </a:bodyPr>
          <a:lstStyle/>
          <a:p>
            <a:pPr marL="171450" indent="-171450" algn="just" rtl="0">
              <a:lnSpc>
                <a:spcPct val="20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rPr>
              <a:t>J. Young, "Big Data Analytics in Stock Prediction," Springer, 2022. https://link.springer.com/article/10.1007/s12345-022-09801-5</a:t>
            </a:r>
            <a:endParaRPr lang="en-IN" sz="1200" dirty="0">
              <a:latin typeface="Times New Roman" panose="02020603050405020304" pitchFamily="18" charset="0"/>
              <a:cs typeface="Times New Roman" panose="02020603050405020304" pitchFamily="18" charset="0"/>
            </a:endParaRPr>
          </a:p>
          <a:p>
            <a:pPr marL="171450" indent="-171450" algn="just" rtl="0">
              <a:lnSpc>
                <a:spcPct val="20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rPr>
              <a:t>C. King, "Analyzing Stock Market Bubbles with AI," Elsevier, 2021. https://www.journals.el</a:t>
            </a:r>
            <a:r>
              <a:rPr lang="en-US" altLang="en-IN" sz="1200" dirty="0">
                <a:effectLst/>
                <a:latin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cs typeface="Times New Roman" panose="02020603050405020304" pitchFamily="18" charset="0"/>
              </a:rPr>
              <a:t>evier.com/economic-analysis</a:t>
            </a:r>
            <a:endParaRPr lang="en-IN" sz="1200" dirty="0">
              <a:latin typeface="Times New Roman" panose="02020603050405020304" pitchFamily="18" charset="0"/>
              <a:cs typeface="Times New Roman" panose="02020603050405020304" pitchFamily="18" charset="0"/>
            </a:endParaRPr>
          </a:p>
          <a:p>
            <a:pPr marL="171450" indent="-171450" algn="just" rtl="0">
              <a:lnSpc>
                <a:spcPct val="20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rPr>
              <a:t>B. Harris, "Factor Models for Stock Price Prediction," IEEE, 2023. https://ieeexplore.ieee.org/document/89123456</a:t>
            </a:r>
            <a:endParaRPr lang="en-IN" sz="1200" dirty="0">
              <a:latin typeface="Times New Roman" panose="02020603050405020304" pitchFamily="18" charset="0"/>
              <a:cs typeface="Times New Roman" panose="02020603050405020304" pitchFamily="18" charset="0"/>
            </a:endParaRPr>
          </a:p>
          <a:p>
            <a:pPr marL="171450" indent="-171450" algn="just" rtl="0">
              <a:lnSpc>
                <a:spcPct val="20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rPr>
              <a:t>V. Nelson, "Predicting Market Crashes Using AI," Springer, 2022. https://link.springer.com/article/10.1007/s10462-022-01571-6</a:t>
            </a:r>
            <a:endParaRPr lang="en-IN" sz="1200" dirty="0">
              <a:latin typeface="Times New Roman" panose="02020603050405020304" pitchFamily="18" charset="0"/>
              <a:cs typeface="Times New Roman" panose="02020603050405020304" pitchFamily="18" charset="0"/>
            </a:endParaRPr>
          </a:p>
        </p:txBody>
      </p:sp>
      <p:sp>
        <p:nvSpPr>
          <p:cNvPr id="66" name="Rectangle 65"/>
          <p:cNvSpPr/>
          <p:nvPr/>
        </p:nvSpPr>
        <p:spPr>
          <a:xfrm>
            <a:off x="8465554" y="12240655"/>
            <a:ext cx="8038263" cy="2919040"/>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67" name="Rectangle 66"/>
          <p:cNvSpPr/>
          <p:nvPr/>
        </p:nvSpPr>
        <p:spPr>
          <a:xfrm>
            <a:off x="8445500" y="9352280"/>
            <a:ext cx="8038465" cy="288861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68" name="Rectangle 67"/>
          <p:cNvSpPr/>
          <p:nvPr/>
        </p:nvSpPr>
        <p:spPr>
          <a:xfrm>
            <a:off x="8449374" y="3506218"/>
            <a:ext cx="8038263"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69" name="Rectangle 68"/>
          <p:cNvSpPr/>
          <p:nvPr/>
        </p:nvSpPr>
        <p:spPr>
          <a:xfrm>
            <a:off x="8449373" y="6409121"/>
            <a:ext cx="8038263" cy="2919040"/>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0" name="Rectangle 69"/>
          <p:cNvSpPr/>
          <p:nvPr/>
        </p:nvSpPr>
        <p:spPr>
          <a:xfrm>
            <a:off x="8463280" y="14789785"/>
            <a:ext cx="8038465" cy="2851157"/>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1" name="Rectangle 70"/>
          <p:cNvSpPr/>
          <p:nvPr/>
        </p:nvSpPr>
        <p:spPr>
          <a:xfrm>
            <a:off x="8469589" y="18722816"/>
            <a:ext cx="8038263"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2" name="Rectangle 71"/>
          <p:cNvSpPr/>
          <p:nvPr/>
        </p:nvSpPr>
        <p:spPr>
          <a:xfrm>
            <a:off x="8469630" y="21625560"/>
            <a:ext cx="8038465" cy="2958465"/>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3" name="Rectangle 72"/>
          <p:cNvSpPr/>
          <p:nvPr/>
        </p:nvSpPr>
        <p:spPr>
          <a:xfrm>
            <a:off x="8469589" y="24569032"/>
            <a:ext cx="8038263" cy="2919040"/>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4" name="Rectangle 73"/>
          <p:cNvSpPr/>
          <p:nvPr/>
        </p:nvSpPr>
        <p:spPr>
          <a:xfrm>
            <a:off x="8469589" y="27457253"/>
            <a:ext cx="8038263" cy="2919040"/>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5" name="Rectangle 74"/>
          <p:cNvSpPr/>
          <p:nvPr/>
        </p:nvSpPr>
        <p:spPr>
          <a:xfrm>
            <a:off x="8489431" y="29994860"/>
            <a:ext cx="8018664" cy="2923540"/>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dirty="0"/>
          </a:p>
        </p:txBody>
      </p:sp>
      <p:sp>
        <p:nvSpPr>
          <p:cNvPr id="76" name="TextBox 75"/>
          <p:cNvSpPr txBox="1"/>
          <p:nvPr/>
        </p:nvSpPr>
        <p:spPr>
          <a:xfrm>
            <a:off x="8504354" y="30312249"/>
            <a:ext cx="7727933" cy="2552109"/>
          </a:xfrm>
          <a:prstGeom prst="rect">
            <a:avLst/>
          </a:prstGeom>
          <a:noFill/>
        </p:spPr>
        <p:txBody>
          <a:bodyPr wrap="square" rtlCol="0">
            <a:spAutoFit/>
          </a:bodyPr>
          <a:lstStyle/>
          <a:p>
            <a:pPr marL="171450" indent="-171450" algn="just" rtl="0">
              <a:lnSpc>
                <a:spcPct val="15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sym typeface="+mn-ea"/>
              </a:rPr>
              <a:t>Z. Adams, "Deep Reinforcement Learning for Trading," Elsevier, 2021. https://www.journals.elsevier.com/finance-research</a:t>
            </a:r>
            <a:endParaRPr lang="en-IN" sz="1200" dirty="0">
              <a:latin typeface="Times New Roman" panose="02020603050405020304" pitchFamily="18" charset="0"/>
              <a:cs typeface="Times New Roman" panose="02020603050405020304" pitchFamily="18" charset="0"/>
            </a:endParaRPr>
          </a:p>
          <a:p>
            <a:pPr marL="171450" indent="-171450" algn="just" rtl="0">
              <a:lnSpc>
                <a:spcPct val="15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sym typeface="+mn-ea"/>
              </a:rPr>
              <a:t>N. Carter, "Stock Price Prediction with Transformers," IEEE, 2023. https://ieeexplore.ieee.org/document/65432198</a:t>
            </a:r>
            <a:endParaRPr lang="en-IN" sz="1200" dirty="0">
              <a:latin typeface="Times New Roman" panose="02020603050405020304" pitchFamily="18" charset="0"/>
              <a:cs typeface="Times New Roman" panose="02020603050405020304" pitchFamily="18" charset="0"/>
            </a:endParaRPr>
          </a:p>
          <a:p>
            <a:pPr marL="171450" indent="-171450" algn="just" rtl="0">
              <a:lnSpc>
                <a:spcPct val="15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sym typeface="+mn-ea"/>
              </a:rPr>
              <a:t>L. Mitchell, "AI-Based Risk Management in Trading," Springer, 2022. https://link.springer.com/article/10.1007/s11263-022-01503-4</a:t>
            </a:r>
            <a:endParaRPr lang="en-IN" sz="1200" dirty="0">
              <a:latin typeface="Times New Roman" panose="02020603050405020304" pitchFamily="18" charset="0"/>
              <a:cs typeface="Times New Roman" panose="02020603050405020304" pitchFamily="18" charset="0"/>
            </a:endParaRPr>
          </a:p>
          <a:p>
            <a:pPr marL="171450" indent="-171450" algn="just" rtl="0">
              <a:lnSpc>
                <a:spcPct val="150000"/>
              </a:lnSpc>
              <a:buFont typeface="Wingdings" panose="05000000000000000000" pitchFamily="2" charset="2"/>
              <a:buChar char="Ø"/>
            </a:pPr>
            <a:r>
              <a:rPr lang="en-IN" sz="1200" dirty="0">
                <a:effectLst/>
                <a:latin typeface="Times New Roman" panose="02020603050405020304" pitchFamily="18" charset="0"/>
                <a:cs typeface="Times New Roman" panose="02020603050405020304" pitchFamily="18" charset="0"/>
                <a:sym typeface="+mn-ea"/>
              </a:rPr>
              <a:t>G. Turner, "Stock Forecasting Using Hybrid Neural Networks," Elsevier, 2021. https://www.journals.elsevier.com/data-science-in-finance</a:t>
            </a:r>
            <a:endParaRPr lang="en-IN" sz="1200" dirty="0">
              <a:latin typeface="Times New Roman" panose="02020603050405020304" pitchFamily="18" charset="0"/>
              <a:cs typeface="Times New Roman" panose="02020603050405020304" pitchFamily="18" charset="0"/>
            </a:endParaRPr>
          </a:p>
          <a:p>
            <a:pPr marL="171450" indent="-171450" algn="just" rtl="0">
              <a:lnSpc>
                <a:spcPct val="150000"/>
              </a:lnSpc>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sym typeface="+mn-ea"/>
              </a:rPr>
              <a:t>E. Harris, "Predicting Stock Market Trends with AI," Springer, 2022. https://link.springer.com/article/10.1007/s11263-022-01349-5</a:t>
            </a:r>
            <a:endParaRPr lang="en-US" sz="1200" dirty="0">
              <a:latin typeface="Times New Roman" panose="02020603050405020304" pitchFamily="18" charset="0"/>
              <a:cs typeface="Times New Roman" panose="02020603050405020304" pitchFamily="18" charset="0"/>
            </a:endParaRPr>
          </a:p>
        </p:txBody>
      </p:sp>
      <p:sp>
        <p:nvSpPr>
          <p:cNvPr id="77" name="Rectangle 76"/>
          <p:cNvSpPr/>
          <p:nvPr/>
        </p:nvSpPr>
        <p:spPr>
          <a:xfrm>
            <a:off x="8435683" y="2703679"/>
            <a:ext cx="8048211" cy="802627"/>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a:p>
        </p:txBody>
      </p:sp>
      <p:sp>
        <p:nvSpPr>
          <p:cNvPr id="79" name="Rectangle 78"/>
          <p:cNvSpPr/>
          <p:nvPr/>
        </p:nvSpPr>
        <p:spPr>
          <a:xfrm>
            <a:off x="8445207" y="17936177"/>
            <a:ext cx="8038263" cy="775510"/>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just"/>
            <a:endParaRPr lang="en-IN" sz="1800"/>
          </a:p>
        </p:txBody>
      </p:sp>
      <p:sp>
        <p:nvSpPr>
          <p:cNvPr id="80" name="TextBox 79"/>
          <p:cNvSpPr txBox="1"/>
          <p:nvPr/>
        </p:nvSpPr>
        <p:spPr>
          <a:xfrm>
            <a:off x="8538755" y="17995643"/>
            <a:ext cx="7761346" cy="1014730"/>
          </a:xfrm>
          <a:prstGeom prst="rect">
            <a:avLst/>
          </a:prstGeom>
          <a:noFill/>
        </p:spPr>
        <p:txBody>
          <a:bodyPr wrap="square" rtlCol="0">
            <a:spAutoFit/>
          </a:bodyPr>
          <a:lstStyle/>
          <a:p>
            <a:pPr algn="ctr"/>
            <a:r>
              <a:rPr lang="en-US" altLang="en-US" sz="2000" b="1" dirty="0">
                <a:latin typeface="Times New Roman" panose="02020603050405020304" pitchFamily="18" charset="0"/>
                <a:cs typeface="Times New Roman" panose="02020603050405020304" pitchFamily="18" charset="0"/>
                <a:sym typeface="+mn-ea"/>
              </a:rPr>
              <a:t>Elevating Blood Cancer Detection Applying Through Logistics Regression And Gradient Boosting Algorithm</a:t>
            </a:r>
            <a:endParaRPr lang="en-US" alt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p:txBody>
      </p:sp>
      <p:sp>
        <p:nvSpPr>
          <p:cNvPr id="82" name="Rectangle 81"/>
          <p:cNvSpPr/>
          <p:nvPr/>
        </p:nvSpPr>
        <p:spPr>
          <a:xfrm>
            <a:off x="8538755" y="18778914"/>
            <a:ext cx="1615029" cy="33814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INTRODUCTION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83" name="Rectangle 82"/>
          <p:cNvSpPr/>
          <p:nvPr/>
        </p:nvSpPr>
        <p:spPr>
          <a:xfrm>
            <a:off x="8538755" y="24636259"/>
            <a:ext cx="995838" cy="35698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RESULTS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84" name="Rectangle 83"/>
          <p:cNvSpPr/>
          <p:nvPr/>
        </p:nvSpPr>
        <p:spPr>
          <a:xfrm>
            <a:off x="8538755" y="27529502"/>
            <a:ext cx="2997348" cy="34143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DISCUSSION AND CONCLUSION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86" name="TextBox 85"/>
          <p:cNvSpPr txBox="1"/>
          <p:nvPr/>
        </p:nvSpPr>
        <p:spPr>
          <a:xfrm>
            <a:off x="15330128" y="36860609"/>
            <a:ext cx="4630672" cy="400238"/>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Text here</a:t>
            </a:r>
            <a:endParaRPr lang="en-IN" sz="2000" b="1" dirty="0">
              <a:latin typeface="Times New Roman" panose="02020603050405020304" pitchFamily="18" charset="0"/>
              <a:cs typeface="Times New Roman" panose="02020603050405020304" pitchFamily="18" charset="0"/>
            </a:endParaRPr>
          </a:p>
        </p:txBody>
      </p:sp>
      <p:sp>
        <p:nvSpPr>
          <p:cNvPr id="87" name="TextBox 86"/>
          <p:cNvSpPr txBox="1"/>
          <p:nvPr/>
        </p:nvSpPr>
        <p:spPr>
          <a:xfrm>
            <a:off x="8427483" y="27797896"/>
            <a:ext cx="8011505" cy="2275110"/>
          </a:xfrm>
          <a:prstGeom prst="rect">
            <a:avLst/>
          </a:prstGeom>
          <a:noFill/>
        </p:spPr>
        <p:txBody>
          <a:bodyPr wrap="square" rtlCol="0">
            <a:spAutoFit/>
          </a:bodyPr>
          <a:lstStyle/>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the independent sample t-test statistical analysis, the significance value of p = 0.070 (Independent sample t-test p &gt; 0.05) shows that there is no statistically significant difference between Group 1 (Linear Regression) and Group 2 (GB). The sample size used in this study is 10.</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accuracy of the GB model is 99.84%, which is higher than the accuracy of the Linear Regression model.</a:t>
            </a:r>
          </a:p>
          <a:p>
            <a:pPr marL="171450" indent="-171450" algn="just" defTabSz="914400" eaLnBrk="0" fontAlgn="base" hangingPunct="0">
              <a:lnSpc>
                <a:spcPct val="150000"/>
              </a:lnSpc>
              <a:spcBef>
                <a:spcPct val="0"/>
              </a:spcBef>
              <a:spcAft>
                <a:spcPct val="0"/>
              </a:spcAft>
              <a:buFont typeface="Wingdings" panose="05000000000000000000" pitchFamily="2" charset="2"/>
              <a:buChar char="Ø"/>
            </a:pPr>
            <a:r>
              <a:rPr lang="en-US" sz="1200" dirty="0">
                <a:effectLst/>
                <a:latin typeface="Times New Roman" panose="02020603050405020304" pitchFamily="18" charset="0"/>
                <a:cs typeface="Times New Roman" panose="02020603050405020304" pitchFamily="18" charset="0"/>
              </a:rPr>
              <a:t>Accuracy Comparison:</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GB – 99.84%            LR – 96.12%</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the results, it is concluded that the GB algorithm achieves better overall performance compared to Linear Regression in predicting </a:t>
            </a:r>
            <a:r>
              <a:rPr lang="en-US" altLang="en-IN" sz="1200" dirty="0">
                <a:latin typeface="Times New Roman" panose="02020603050405020304" pitchFamily="18" charset="0"/>
                <a:cs typeface="Times New Roman" panose="02020603050405020304" pitchFamily="18" charset="0"/>
                <a:sym typeface="+mn-ea"/>
              </a:rPr>
              <a:t>BLOOD CANCER ANALYSIS.</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8" name="Rectangle 87"/>
          <p:cNvSpPr/>
          <p:nvPr/>
        </p:nvSpPr>
        <p:spPr>
          <a:xfrm>
            <a:off x="8538755" y="21671752"/>
            <a:ext cx="2693875" cy="32906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MATERIALS AND METHODS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90" name="Rectangle 89"/>
          <p:cNvSpPr/>
          <p:nvPr/>
        </p:nvSpPr>
        <p:spPr>
          <a:xfrm>
            <a:off x="8534626" y="30063661"/>
            <a:ext cx="1591248" cy="34277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BIBLIOGRAPHY</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91" name="Rectangle 90"/>
          <p:cNvSpPr/>
          <p:nvPr/>
        </p:nvSpPr>
        <p:spPr>
          <a:xfrm>
            <a:off x="8489431" y="3535948"/>
            <a:ext cx="1681638" cy="32980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Times New Roman" panose="02020603050405020304" pitchFamily="18" charset="0"/>
                <a:cs typeface="Times New Roman" panose="02020603050405020304" pitchFamily="18" charset="0"/>
              </a:rPr>
              <a:t>INTRODUCTION</a:t>
            </a:r>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92" name="Rectangle 91"/>
          <p:cNvSpPr/>
          <p:nvPr/>
        </p:nvSpPr>
        <p:spPr>
          <a:xfrm>
            <a:off x="8489431" y="9424034"/>
            <a:ext cx="980598" cy="28467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RESULTS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93" name="Rectangle 92"/>
          <p:cNvSpPr/>
          <p:nvPr/>
        </p:nvSpPr>
        <p:spPr>
          <a:xfrm>
            <a:off x="8489431" y="12270166"/>
            <a:ext cx="3046672" cy="3594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DISCUSSION AND CONCLUSION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94" name="TextBox 93"/>
          <p:cNvSpPr txBox="1"/>
          <p:nvPr/>
        </p:nvSpPr>
        <p:spPr>
          <a:xfrm>
            <a:off x="8390950" y="3907181"/>
            <a:ext cx="5553361" cy="338214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Blood cancer, also known as hematologic malignancy, refers to a group of cancers that affect the blood, bone marrow, and lymphatic system.</a:t>
            </a:r>
            <a:endParaRPr lang="en-US" altLang="en-US" sz="12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Early and accurate detection is essential to improve patient survival rates and guide timely treatment decisions. Traditional diagnostic techniques often rely on manual interpretation of laboratory data, which can be time-consuming and prone to human error.</a:t>
            </a:r>
            <a:endParaRPr lang="en-US" altLang="en-US" sz="12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This study aims to compare the performance of KNN and LR algorithms in predicting blood cancer, focusing on their classification accuracy</a:t>
            </a:r>
            <a:endParaRPr lang="en-US" altLang="en-US" sz="1200" b="1" dirty="0">
              <a:latin typeface="Times New Roman" panose="02020603050405020304" pitchFamily="18" charset="0"/>
              <a:cs typeface="Times New Roman" panose="02020603050405020304" pitchFamily="18" charset="0"/>
            </a:endParaRPr>
          </a:p>
          <a:p>
            <a:pPr lvl="0" indent="0" algn="just" defTabSz="914400" eaLnBrk="0" fontAlgn="base" hangingPunct="0">
              <a:lnSpc>
                <a:spcPct val="150000"/>
              </a:lnSpc>
              <a:spcBef>
                <a:spcPct val="0"/>
              </a:spcBef>
              <a:spcAft>
                <a:spcPct val="0"/>
              </a:spcAft>
              <a:buFont typeface="Wingdings" panose="05000000000000000000" pitchFamily="2" charset="2"/>
              <a:buNone/>
            </a:pPr>
            <a:endParaRPr lang="en-US" altLang="en-US" sz="1200" b="1"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endParaRPr kumimoji="0" lang="en-US" altLang="en-US" sz="1200" i="0" u="none" strike="noStrike" cap="none" normalizeH="0" baseline="0" dirty="0">
              <a:ln>
                <a:noFill/>
              </a:ln>
              <a:solidFill>
                <a:schemeClr val="tx1"/>
              </a:solidFill>
              <a:effectLst/>
              <a:latin typeface="Arial" panose="020B0604020202020204" pitchFamily="34" charset="0"/>
            </a:endParaRPr>
          </a:p>
        </p:txBody>
      </p:sp>
      <p:sp>
        <p:nvSpPr>
          <p:cNvPr id="96" name="TextBox 95"/>
          <p:cNvSpPr txBox="1"/>
          <p:nvPr/>
        </p:nvSpPr>
        <p:spPr>
          <a:xfrm>
            <a:off x="8504354" y="12560379"/>
            <a:ext cx="7807181" cy="3106107"/>
          </a:xfrm>
          <a:prstGeom prst="rect">
            <a:avLst/>
          </a:prstGeom>
          <a:noFill/>
        </p:spPr>
        <p:txBody>
          <a:bodyPr wrap="square" rtlCol="0">
            <a:spAutoFit/>
          </a:bodyPr>
          <a:lstStyle/>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Based on the independent sample t-test statistical analysis, the significance value of p = 0.070 (where </a:t>
            </a:r>
            <a:r>
              <a:rPr lang="en-US" sz="1200" i="1" dirty="0">
                <a:latin typeface="Times New Roman" panose="02020603050405020304" pitchFamily="18" charset="0"/>
                <a:cs typeface="Times New Roman" panose="02020603050405020304" pitchFamily="18" charset="0"/>
              </a:rPr>
              <a:t>p &gt; 0.05</a:t>
            </a:r>
            <a:r>
              <a:rPr lang="en-US" sz="1200" dirty="0">
                <a:latin typeface="Times New Roman" panose="02020603050405020304" pitchFamily="18" charset="0"/>
                <a:cs typeface="Times New Roman" panose="02020603050405020304" pitchFamily="18" charset="0"/>
              </a:rPr>
              <a:t>) indicates that there is no statistically significant difference between the two models. The sample size used in this study is 10.</a:t>
            </a:r>
          </a:p>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Overall, the KNN algorithm achieves higher accuracy compared to the LR algorithm in  blood cancer prediction:   </a:t>
            </a:r>
          </a:p>
          <a:p>
            <a:pPr algn="just">
              <a:lnSpc>
                <a:spcPct val="150000"/>
              </a:lnSpc>
            </a:pPr>
            <a:r>
              <a:rPr lang="en-US" sz="1200" dirty="0">
                <a:latin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cs typeface="Times New Roman" panose="02020603050405020304" pitchFamily="18" charset="0"/>
              </a:rPr>
              <a:t>Accuracy Comparison:</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KNN Accuracy – 95.31%                    LR – 89.79%</a:t>
            </a:r>
          </a:p>
          <a:p>
            <a:pPr marL="171450" indent="-171450" algn="just">
              <a:lnSpc>
                <a:spcPct val="150000"/>
              </a:lnSpc>
              <a:buFont typeface="Wingdings" panose="05000000000000000000" pitchFamily="2" charset="2"/>
              <a:buChar char="Ø"/>
            </a:pPr>
            <a:endParaRPr lang="en-US" sz="1200" dirty="0">
              <a:latin typeface="Times New Roman" panose="02020603050405020304" pitchFamily="18" charset="0"/>
              <a:cs typeface="Times New Roman" panose="02020603050405020304" pitchFamily="18" charset="0"/>
            </a:endParaRPr>
          </a:p>
          <a:p>
            <a:pPr marL="171450" indent="-17145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From this study, it can be concluded that the kNN model outperforms the LR model, achieving superior accuracy in </a:t>
            </a:r>
            <a:r>
              <a:rPr lang="en-US" sz="1200" dirty="0">
                <a:latin typeface="Times New Roman" panose="02020603050405020304" pitchFamily="18" charset="0"/>
                <a:cs typeface="Times New Roman" panose="02020603050405020304" pitchFamily="18" charset="0"/>
                <a:sym typeface="+mn-ea"/>
              </a:rPr>
              <a:t>blood cancer prediction</a:t>
            </a:r>
            <a:r>
              <a:rPr lang="en-US" sz="1200" dirty="0">
                <a:latin typeface="Times New Roman" panose="02020603050405020304" pitchFamily="18" charset="0"/>
                <a:cs typeface="Times New Roman" panose="02020603050405020304" pitchFamily="18" charset="0"/>
              </a:rPr>
              <a:t>.</a:t>
            </a:r>
          </a:p>
          <a:p>
            <a:pPr marL="340995" indent="-340995" algn="just">
              <a:lnSpc>
                <a:spcPct val="150000"/>
              </a:lnSpc>
              <a:buFont typeface="Wingdings" panose="05000000000000000000" pitchFamily="2" charset="2"/>
              <a:buChar char="Ø"/>
            </a:pPr>
            <a:endParaRPr lang="en-US" altLang="en-IN"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pP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9" name="Rectangle 98"/>
          <p:cNvSpPr/>
          <p:nvPr/>
        </p:nvSpPr>
        <p:spPr>
          <a:xfrm>
            <a:off x="8538755" y="14834808"/>
            <a:ext cx="1712118" cy="33702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Times New Roman" panose="02020603050405020304" pitchFamily="18" charset="0"/>
                <a:cs typeface="Times New Roman" panose="02020603050405020304" pitchFamily="18" charset="0"/>
              </a:rPr>
              <a:t>BIBLIOGRAPHY</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100" name="TextBox 99"/>
          <p:cNvSpPr txBox="1"/>
          <p:nvPr/>
        </p:nvSpPr>
        <p:spPr>
          <a:xfrm>
            <a:off x="8600371" y="15129469"/>
            <a:ext cx="7615149" cy="2552109"/>
          </a:xfrm>
          <a:prstGeom prst="rect">
            <a:avLst/>
          </a:prstGeom>
          <a:noFill/>
        </p:spPr>
        <p:txBody>
          <a:bodyPr wrap="square" rtlCol="0">
            <a:spAutoFit/>
          </a:bodyPr>
          <a:lstStyle/>
          <a:p>
            <a:pPr marL="171450" indent="-171450" algn="just">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Johnson, William. 2024. Advanced Quantitative Finance: Trading, Risk, and Portfolio Optimization. HiTeX Press.</a:t>
            </a:r>
          </a:p>
          <a:p>
            <a:pPr marL="171450" indent="-171450" algn="just">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 Kim, Kendall. 2010. Electronic and Algorithmic Trading Technology: The Complete Guide. Academic Press.</a:t>
            </a:r>
          </a:p>
          <a:p>
            <a:pPr marL="171450" indent="-171450" algn="just">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Li, Man, Ye Zhu, Yuxin Shen, and Maia Angelova. 2023. Clustering-Enhanced Stock Price Prediction Using Deep Learning. World Wide Web 26 (1): 207–32.</a:t>
            </a:r>
          </a:p>
          <a:p>
            <a:pPr marL="171450" indent="-171450" algn="just">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Patterson, Josh, and Adam Gibson. 2017. Deep Learning: A Practitioner’s Approach. O’Reilly Media, Inc.</a:t>
            </a:r>
          </a:p>
          <a:p>
            <a:pPr marL="171450" indent="-171450" algn="just">
              <a:lnSpc>
                <a:spcPct val="150000"/>
              </a:lnSpc>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Trippi, Robert R., and Efraim Turban. 1996. Neural Networks in Finance and Investing: Using Artificial Intelligence to Improve Real-World Performance. Irwin Professional Publishing.</a:t>
            </a:r>
          </a:p>
          <a:p>
            <a:pPr algn="just">
              <a:lnSpc>
                <a:spcPct val="150000"/>
              </a:lnSpc>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
        <p:nvSpPr>
          <p:cNvPr id="25" name="Rectangle 10"/>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4"/>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5" name="Rectangle 15"/>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16"/>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17"/>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8" name="Rectangle 18"/>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19"/>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1" name="TextBox 80"/>
          <p:cNvSpPr txBox="1"/>
          <p:nvPr/>
        </p:nvSpPr>
        <p:spPr>
          <a:xfrm>
            <a:off x="16064349" y="1767840"/>
            <a:ext cx="577731" cy="369332"/>
          </a:xfrm>
          <a:prstGeom prst="rect">
            <a:avLst/>
          </a:prstGeom>
          <a:noFill/>
        </p:spPr>
        <p:txBody>
          <a:bodyPr wrap="square" rtlCol="0">
            <a:spAutoFit/>
          </a:bodyPr>
          <a:lstStyle/>
          <a:p>
            <a:pPr algn="just"/>
            <a:endParaRPr lang="en-IN" dirty="0"/>
          </a:p>
        </p:txBody>
      </p:sp>
      <p:sp>
        <p:nvSpPr>
          <p:cNvPr id="2" name="TextBox 1"/>
          <p:cNvSpPr txBox="1"/>
          <p:nvPr/>
        </p:nvSpPr>
        <p:spPr>
          <a:xfrm>
            <a:off x="8681150" y="1281302"/>
            <a:ext cx="7778187" cy="1383665"/>
          </a:xfrm>
          <a:prstGeom prst="rect">
            <a:avLst/>
          </a:prstGeom>
          <a:noFill/>
        </p:spPr>
        <p:txBody>
          <a:bodyPr wrap="square" rtlCol="0">
            <a:spAutoFit/>
          </a:bodyPr>
          <a:lstStyle/>
          <a:p>
            <a:pPr algn="r"/>
            <a:r>
              <a:rPr lang="en-US" sz="2800" b="1" dirty="0">
                <a:solidFill>
                  <a:schemeClr val="bg1"/>
                </a:solidFill>
                <a:latin typeface="Times New Roman" panose="02020603050405020304" pitchFamily="18" charset="0"/>
                <a:cs typeface="Times New Roman" panose="02020603050405020304" pitchFamily="18" charset="0"/>
              </a:rPr>
              <a:t>M.Vishva</a:t>
            </a:r>
          </a:p>
          <a:p>
            <a:pPr algn="r"/>
            <a:r>
              <a:rPr lang="en-US" sz="2800" b="1" dirty="0">
                <a:solidFill>
                  <a:schemeClr val="bg1"/>
                </a:solidFill>
                <a:latin typeface="Times New Roman" panose="02020603050405020304" pitchFamily="18" charset="0"/>
                <a:cs typeface="Times New Roman" panose="02020603050405020304" pitchFamily="18" charset="0"/>
              </a:rPr>
              <a:t>Reg. No:252314004</a:t>
            </a:r>
          </a:p>
          <a:p>
            <a:pPr algn="r"/>
            <a:r>
              <a:rPr lang="en-US" sz="2800" b="1" dirty="0">
                <a:solidFill>
                  <a:schemeClr val="bg1"/>
                </a:solidFill>
                <a:latin typeface="Times New Roman" panose="02020603050405020304" pitchFamily="18" charset="0"/>
                <a:cs typeface="Times New Roman" panose="02020603050405020304" pitchFamily="18" charset="0"/>
              </a:rPr>
              <a:t>Guided by </a:t>
            </a:r>
            <a:r>
              <a:rPr lang="en-IN" sz="2500" b="1" dirty="0" err="1">
                <a:solidFill>
                  <a:schemeClr val="bg1"/>
                </a:solidFill>
                <a:effectLst/>
                <a:latin typeface="Arial" panose="020B0604020202020204" pitchFamily="34" charset="0"/>
                <a:cs typeface="Arial" panose="020B0604020202020204" pitchFamily="34" charset="0"/>
                <a:sym typeface="+mn-ea"/>
              </a:rPr>
              <a:t>Dr.</a:t>
            </a:r>
            <a:r>
              <a:rPr lang="en-IN" sz="2500" b="1" dirty="0">
                <a:solidFill>
                  <a:schemeClr val="bg1"/>
                </a:solidFill>
                <a:effectLst/>
                <a:latin typeface="Arial" panose="020B0604020202020204" pitchFamily="34" charset="0"/>
                <a:cs typeface="Arial" panose="020B0604020202020204" pitchFamily="34" charset="0"/>
                <a:sym typeface="+mn-ea"/>
              </a:rPr>
              <a:t> </a:t>
            </a:r>
            <a:r>
              <a:rPr lang="en-US" altLang="en-IN" sz="2500" b="1" dirty="0">
                <a:solidFill>
                  <a:schemeClr val="bg1"/>
                </a:solidFill>
                <a:effectLst/>
                <a:latin typeface="Arial" panose="020B0604020202020204" pitchFamily="34" charset="0"/>
                <a:cs typeface="Arial" panose="020B0604020202020204" pitchFamily="34" charset="0"/>
                <a:sym typeface="+mn-ea"/>
              </a:rPr>
              <a:t>P</a:t>
            </a:r>
            <a:r>
              <a:rPr lang="en-IN" sz="2500" b="1" dirty="0" err="1">
                <a:solidFill>
                  <a:schemeClr val="bg1"/>
                </a:solidFill>
                <a:latin typeface="Arial" panose="020B0604020202020204" pitchFamily="34" charset="0"/>
                <a:cs typeface="Arial" panose="020B0604020202020204" pitchFamily="34" charset="0"/>
                <a:sym typeface="+mn-ea"/>
              </a:rPr>
              <a:t>.Malathi</a:t>
            </a:r>
            <a:endParaRPr lang="en-IN" sz="2500" b="1" dirty="0">
              <a:solidFill>
                <a:schemeClr val="bg1"/>
              </a:solidFill>
              <a:latin typeface="Arial" panose="020B0604020202020204" pitchFamily="34" charset="0"/>
              <a:cs typeface="Arial" panose="020B0604020202020204" pitchFamily="34" charset="0"/>
            </a:endParaRPr>
          </a:p>
        </p:txBody>
      </p:sp>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7101" y="9521277"/>
            <a:ext cx="2421728" cy="16441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56414" y="10964350"/>
            <a:ext cx="1644962" cy="307777"/>
          </a:xfrm>
          <a:prstGeom prst="rect">
            <a:avLst/>
          </a:prstGeom>
          <a:noFill/>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Group Statistics</a:t>
            </a:r>
            <a:endParaRPr lang="en-IN" sz="1400" dirty="0"/>
          </a:p>
        </p:txBody>
      </p:sp>
      <p:sp>
        <p:nvSpPr>
          <p:cNvPr id="14" name="TextBox 13"/>
          <p:cNvSpPr txBox="1"/>
          <p:nvPr/>
        </p:nvSpPr>
        <p:spPr>
          <a:xfrm>
            <a:off x="5741035" y="11814175"/>
            <a:ext cx="5795010" cy="229870"/>
          </a:xfrm>
          <a:prstGeom prst="rect">
            <a:avLst/>
          </a:prstGeom>
          <a:noFill/>
        </p:spPr>
        <p:txBody>
          <a:bodyPr wrap="square">
            <a:spAutoFit/>
          </a:bodyPr>
          <a:lstStyle/>
          <a:p>
            <a:pPr algn="just"/>
            <a:r>
              <a:rPr lang="en-US" altLang="en-IN" sz="900" b="1" dirty="0">
                <a:sym typeface="+mn-ea"/>
              </a:rPr>
              <a:t>BLOOD CANCER ANALYSIS</a:t>
            </a:r>
            <a:r>
              <a:rPr lang="en-US" sz="900" b="1" dirty="0">
                <a:latin typeface="Times New Roman" panose="02020603050405020304" pitchFamily="18" charset="0"/>
                <a:cs typeface="Times New Roman" panose="02020603050405020304" pitchFamily="18" charset="0"/>
              </a:rPr>
              <a:t> Using SVM AND DT </a:t>
            </a:r>
            <a:endParaRPr lang="en-IN" sz="900" b="1" dirty="0">
              <a:latin typeface="Times New Roman" panose="02020603050405020304" pitchFamily="18" charset="0"/>
              <a:cs typeface="Times New Roman" panose="02020603050405020304" pitchFamily="18" charset="0"/>
            </a:endParaRPr>
          </a:p>
        </p:txBody>
      </p:sp>
      <p:pic>
        <p:nvPicPr>
          <p:cNvPr id="18"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78954" y="9768668"/>
            <a:ext cx="1865357" cy="120706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Output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103381" y="9795346"/>
            <a:ext cx="2158475" cy="1213303"/>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12253378" y="11000627"/>
            <a:ext cx="2701927" cy="229870"/>
          </a:xfrm>
          <a:prstGeom prst="rect">
            <a:avLst/>
          </a:prstGeom>
          <a:noFill/>
        </p:spPr>
        <p:txBody>
          <a:bodyPr wrap="square">
            <a:spAutoFit/>
          </a:bodyPr>
          <a:lstStyle/>
          <a:p>
            <a:pPr algn="just"/>
            <a:r>
              <a:rPr lang="en-US" sz="900" b="1" dirty="0">
                <a:latin typeface="Times New Roman" panose="02020603050405020304" pitchFamily="18" charset="0"/>
                <a:cs typeface="Times New Roman" panose="02020603050405020304" pitchFamily="18" charset="0"/>
              </a:rPr>
              <a:t> KNN  and  LR</a:t>
            </a:r>
            <a:endParaRPr lang="en-IN" sz="900" dirty="0"/>
          </a:p>
        </p:txBody>
      </p:sp>
      <p:sp>
        <p:nvSpPr>
          <p:cNvPr id="61" name="TextBox 60"/>
          <p:cNvSpPr txBox="1"/>
          <p:nvPr/>
        </p:nvSpPr>
        <p:spPr>
          <a:xfrm>
            <a:off x="13849775" y="11054744"/>
            <a:ext cx="2797552" cy="230832"/>
          </a:xfrm>
          <a:prstGeom prst="rect">
            <a:avLst/>
          </a:prstGeom>
          <a:noFill/>
        </p:spPr>
        <p:txBody>
          <a:bodyPr wrap="square">
            <a:spAutoFit/>
          </a:bodyPr>
          <a:lstStyle/>
          <a:p>
            <a:pPr algn="just"/>
            <a:r>
              <a:rPr lang="en-US" sz="900" b="1" dirty="0">
                <a:latin typeface="Times New Roman" panose="02020603050405020304" pitchFamily="18" charset="0"/>
                <a:cs typeface="Times New Roman" panose="02020603050405020304" pitchFamily="18" charset="0"/>
              </a:rPr>
              <a:t>Performance Metric comparison of ML algorithms</a:t>
            </a:r>
            <a:endParaRPr lang="en-IN" sz="900" b="1" dirty="0">
              <a:latin typeface="Times New Roman" panose="02020603050405020304" pitchFamily="18" charset="0"/>
              <a:cs typeface="Times New Roman" panose="02020603050405020304" pitchFamily="18" charset="0"/>
            </a:endParaRPr>
          </a:p>
        </p:txBody>
      </p:sp>
      <p:pic>
        <p:nvPicPr>
          <p:cNvPr id="65"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73347" y="24869084"/>
            <a:ext cx="2176840" cy="1509631"/>
          </a:xfrm>
          <a:prstGeom prst="rect">
            <a:avLst/>
          </a:prstGeom>
          <a:noFill/>
          <a:extLst>
            <a:ext uri="{909E8E84-426E-40DD-AFC4-6F175D3DCCD1}">
              <a14:hiddenFill xmlns:a14="http://schemas.microsoft.com/office/drawing/2010/main">
                <a:solidFill>
                  <a:srgbClr val="FFFFFF"/>
                </a:solidFill>
              </a14:hiddenFill>
            </a:ext>
          </a:extLst>
        </p:spPr>
      </p:pic>
      <p:sp>
        <p:nvSpPr>
          <p:cNvPr id="104" name="TextBox 103"/>
          <p:cNvSpPr txBox="1"/>
          <p:nvPr/>
        </p:nvSpPr>
        <p:spPr>
          <a:xfrm>
            <a:off x="4377965" y="26397298"/>
            <a:ext cx="2151518" cy="245110"/>
          </a:xfrm>
          <a:prstGeom prst="rect">
            <a:avLst/>
          </a:prstGeom>
          <a:noFill/>
        </p:spPr>
        <p:txBody>
          <a:bodyPr wrap="square">
            <a:spAutoFit/>
          </a:bodyPr>
          <a:lstStyle/>
          <a:p>
            <a:pPr algn="just"/>
            <a:r>
              <a:rPr lang="en-US" altLang="en-IN" sz="1000" b="1" dirty="0"/>
              <a:t>DT AND KNN</a:t>
            </a:r>
          </a:p>
        </p:txBody>
      </p:sp>
      <p:pic>
        <p:nvPicPr>
          <p:cNvPr id="109" name="Picture 10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338150" y="24993242"/>
            <a:ext cx="2021446" cy="1111826"/>
          </a:xfrm>
          <a:prstGeom prst="rect">
            <a:avLst/>
          </a:prstGeom>
        </p:spPr>
      </p:pic>
      <p:pic>
        <p:nvPicPr>
          <p:cNvPr id="1028"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253378" y="24993242"/>
            <a:ext cx="1937988" cy="1118444"/>
          </a:xfrm>
          <a:prstGeom prst="rect">
            <a:avLst/>
          </a:prstGeom>
          <a:noFill/>
          <a:extLst>
            <a:ext uri="{909E8E84-426E-40DD-AFC4-6F175D3DCCD1}">
              <a14:hiddenFill xmlns:a14="http://schemas.microsoft.com/office/drawing/2010/main">
                <a:solidFill>
                  <a:srgbClr val="FFFFFF"/>
                </a:solidFill>
              </a14:hiddenFill>
            </a:ext>
          </a:extLst>
        </p:spPr>
      </p:pic>
      <p:sp>
        <p:nvSpPr>
          <p:cNvPr id="113" name="TextBox 112"/>
          <p:cNvSpPr txBox="1"/>
          <p:nvPr/>
        </p:nvSpPr>
        <p:spPr>
          <a:xfrm>
            <a:off x="14135474" y="26161753"/>
            <a:ext cx="2541330" cy="215444"/>
          </a:xfrm>
          <a:prstGeom prst="rect">
            <a:avLst/>
          </a:prstGeom>
          <a:noFill/>
        </p:spPr>
        <p:txBody>
          <a:bodyPr wrap="square">
            <a:spAutoFit/>
          </a:bodyPr>
          <a:lstStyle/>
          <a:p>
            <a:pPr algn="just"/>
            <a:r>
              <a:rPr lang="en-US" sz="800" b="1" dirty="0">
                <a:latin typeface="Times New Roman" panose="02020603050405020304" pitchFamily="18" charset="0"/>
                <a:cs typeface="Times New Roman" panose="02020603050405020304" pitchFamily="18" charset="0"/>
              </a:rPr>
              <a:t>Performance Metric comparison of ML algorithms</a:t>
            </a:r>
            <a:endParaRPr lang="en-IN" sz="800" b="1" dirty="0">
              <a:latin typeface="Times New Roman" panose="02020603050405020304" pitchFamily="18" charset="0"/>
              <a:cs typeface="Times New Roman" panose="02020603050405020304" pitchFamily="18" charset="0"/>
            </a:endParaRPr>
          </a:p>
        </p:txBody>
      </p:sp>
      <p:sp>
        <p:nvSpPr>
          <p:cNvPr id="117" name="TextBox 116"/>
          <p:cNvSpPr txBox="1"/>
          <p:nvPr/>
        </p:nvSpPr>
        <p:spPr>
          <a:xfrm>
            <a:off x="8533923" y="19178885"/>
            <a:ext cx="5509168" cy="2275110"/>
          </a:xfrm>
          <a:prstGeom prst="rect">
            <a:avLst/>
          </a:prstGeom>
          <a:noFill/>
        </p:spPr>
        <p:txBody>
          <a:bodyPr wrap="square">
            <a:spAutoFit/>
          </a:bodyPr>
          <a:lstStyle/>
          <a:p>
            <a:pPr marL="342900" lvl="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Blood cancer, also known as hematologic cancer, is a severe and potentially life-threatening condition that affects the production and function of blood cells.</a:t>
            </a:r>
            <a:endParaRPr lang="en-US" altLang="en-US" sz="1200" b="1" dirty="0">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The three main types—leukemia, lymphoma, and myeloma—disrupt normal blood cell development in the bone marrow and lymphatic system. </a:t>
            </a:r>
            <a:endParaRPr lang="en-US" altLang="en-US" sz="1200" b="1" dirty="0">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sym typeface="+mn-ea"/>
              </a:rPr>
              <a:t>This research focuses on evaluating and comparing the performance of two supervised machine learning algorithms—Logistic Regression (LR) and Gradient Boosting (GB)—for blood cancer detection. </a:t>
            </a:r>
            <a:endParaRPr lang="en-US" altLang="en-US" sz="1200"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326615" y="5959122"/>
            <a:ext cx="1784985" cy="268605"/>
          </a:xfrm>
          <a:prstGeom prst="rect">
            <a:avLst/>
          </a:prstGeom>
          <a:noFill/>
        </p:spPr>
        <p:txBody>
          <a:bodyPr wrap="square">
            <a:noAutofit/>
          </a:bodyPr>
          <a:lstStyle/>
          <a:p>
            <a:pPr algn="just"/>
            <a:r>
              <a:rPr lang="en-US" altLang="en-IN" sz="900" b="1" dirty="0">
                <a:latin typeface="Times New Roman" panose="02020603050405020304" pitchFamily="18" charset="0"/>
                <a:cs typeface="Times New Roman" panose="02020603050405020304" pitchFamily="18" charset="0"/>
              </a:rPr>
              <a:t>BLOOD CANCER ANALYSIS</a:t>
            </a:r>
          </a:p>
        </p:txBody>
      </p:sp>
      <p:sp>
        <p:nvSpPr>
          <p:cNvPr id="62" name="TextBox 61"/>
          <p:cNvSpPr txBox="1"/>
          <p:nvPr/>
        </p:nvSpPr>
        <p:spPr>
          <a:xfrm>
            <a:off x="14318319" y="5914893"/>
            <a:ext cx="1897201" cy="384721"/>
          </a:xfrm>
          <a:prstGeom prst="rect">
            <a:avLst/>
          </a:prstGeom>
          <a:noFill/>
        </p:spPr>
        <p:txBody>
          <a:bodyPr wrap="square">
            <a:spAutoFit/>
          </a:bodyPr>
          <a:lstStyle/>
          <a:p>
            <a:pPr algn="just"/>
            <a:r>
              <a:rPr lang="en-US" altLang="en-IN" sz="1000" b="1" dirty="0">
                <a:latin typeface="Times New Roman" panose="02020603050405020304" pitchFamily="18" charset="0"/>
                <a:cs typeface="Times New Roman" panose="02020603050405020304" pitchFamily="18" charset="0"/>
                <a:sym typeface="+mn-ea"/>
              </a:rPr>
              <a:t>BLOOD CANCER ANALYSIS</a:t>
            </a:r>
            <a:endParaRPr lang="en-US" altLang="en-IN" sz="1000" b="1" dirty="0">
              <a:latin typeface="Times New Roman" panose="02020603050405020304" pitchFamily="18" charset="0"/>
              <a:cs typeface="Times New Roman" panose="02020603050405020304" pitchFamily="18" charset="0"/>
            </a:endParaRPr>
          </a:p>
          <a:p>
            <a:pPr algn="just"/>
            <a:r>
              <a:rPr lang="en-US" sz="900" b="1" i="0" u="none" strike="noStrike" dirty="0">
                <a:solidFill>
                  <a:srgbClr val="000000"/>
                </a:solidFill>
                <a:effectLst/>
                <a:latin typeface="Times New Roman" panose="02020603050405020304" pitchFamily="18" charset="0"/>
              </a:rPr>
              <a:t> </a:t>
            </a:r>
            <a:endParaRPr lang="en-IN" sz="900" dirty="0"/>
          </a:p>
        </p:txBody>
      </p:sp>
      <p:sp>
        <p:nvSpPr>
          <p:cNvPr id="95" name="TextBox 94"/>
          <p:cNvSpPr txBox="1"/>
          <p:nvPr/>
        </p:nvSpPr>
        <p:spPr>
          <a:xfrm>
            <a:off x="6321083" y="21242061"/>
            <a:ext cx="1589886" cy="368300"/>
          </a:xfrm>
          <a:prstGeom prst="rect">
            <a:avLst/>
          </a:prstGeom>
          <a:noFill/>
        </p:spPr>
        <p:txBody>
          <a:bodyPr wrap="square">
            <a:spAutoFit/>
          </a:bodyPr>
          <a:lstStyle/>
          <a:p>
            <a:pPr algn="just"/>
            <a:r>
              <a:rPr lang="en-US" altLang="en-IN" sz="900" b="1" dirty="0">
                <a:sym typeface="+mn-ea"/>
              </a:rPr>
              <a:t>BLOOD CANCER ANALYSIS</a:t>
            </a:r>
            <a:endParaRPr lang="en-US" altLang="en-IN" sz="900" b="1" dirty="0"/>
          </a:p>
          <a:p>
            <a:pPr algn="just"/>
            <a:endParaRPr lang="en-IN" sz="900" dirty="0"/>
          </a:p>
        </p:txBody>
      </p:sp>
      <p:sp>
        <p:nvSpPr>
          <p:cNvPr id="105" name="TextBox 104"/>
          <p:cNvSpPr txBox="1"/>
          <p:nvPr/>
        </p:nvSpPr>
        <p:spPr>
          <a:xfrm>
            <a:off x="14697090" y="21288573"/>
            <a:ext cx="2734518" cy="368300"/>
          </a:xfrm>
          <a:prstGeom prst="rect">
            <a:avLst/>
          </a:prstGeom>
          <a:noFill/>
        </p:spPr>
        <p:txBody>
          <a:bodyPr wrap="square">
            <a:spAutoFit/>
          </a:bodyPr>
          <a:lstStyle/>
          <a:p>
            <a:pPr algn="just"/>
            <a:r>
              <a:rPr lang="en-US" altLang="en-IN" sz="900" b="1" dirty="0">
                <a:sym typeface="+mn-ea"/>
              </a:rPr>
              <a:t>BLOOD CANCER ANALYSIS</a:t>
            </a:r>
            <a:endParaRPr lang="en-US" altLang="en-IN" sz="900" b="1" dirty="0"/>
          </a:p>
          <a:p>
            <a:pPr algn="just"/>
            <a:r>
              <a:rPr lang="en-US" sz="900" b="1" i="0" u="none" strike="noStrike" dirty="0">
                <a:solidFill>
                  <a:srgbClr val="000000"/>
                </a:solidFill>
                <a:effectLst/>
                <a:latin typeface="Times New Roman" panose="02020603050405020304" pitchFamily="18" charset="0"/>
              </a:rPr>
              <a:t> </a:t>
            </a:r>
            <a:endParaRPr lang="en-IN" sz="900" dirty="0"/>
          </a:p>
        </p:txBody>
      </p:sp>
      <p:pic>
        <p:nvPicPr>
          <p:cNvPr id="1026"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664648" y="9407861"/>
            <a:ext cx="2443032" cy="11736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nvGraphicFramePr>
        <p:xfrm>
          <a:off x="92365" y="9703283"/>
          <a:ext cx="3012731" cy="1223326"/>
        </p:xfrm>
        <a:graphic>
          <a:graphicData uri="http://schemas.openxmlformats.org/drawingml/2006/table">
            <a:tbl>
              <a:tblPr firstRow="1" firstCol="1" bandRow="1">
                <a:tableStyleId>{5C22544A-7EE6-4342-B048-85BDC9FD1C3A}</a:tableStyleId>
              </a:tblPr>
              <a:tblGrid>
                <a:gridCol w="266450">
                  <a:extLst>
                    <a:ext uri="{9D8B030D-6E8A-4147-A177-3AD203B41FA5}">
                      <a16:colId xmlns:a16="http://schemas.microsoft.com/office/drawing/2014/main" val="20000"/>
                    </a:ext>
                  </a:extLst>
                </a:gridCol>
                <a:gridCol w="758649">
                  <a:extLst>
                    <a:ext uri="{9D8B030D-6E8A-4147-A177-3AD203B41FA5}">
                      <a16:colId xmlns:a16="http://schemas.microsoft.com/office/drawing/2014/main" val="20001"/>
                    </a:ext>
                  </a:extLst>
                </a:gridCol>
                <a:gridCol w="294647">
                  <a:extLst>
                    <a:ext uri="{9D8B030D-6E8A-4147-A177-3AD203B41FA5}">
                      <a16:colId xmlns:a16="http://schemas.microsoft.com/office/drawing/2014/main" val="20002"/>
                    </a:ext>
                  </a:extLst>
                </a:gridCol>
                <a:gridCol w="520861">
                  <a:extLst>
                    <a:ext uri="{9D8B030D-6E8A-4147-A177-3AD203B41FA5}">
                      <a16:colId xmlns:a16="http://schemas.microsoft.com/office/drawing/2014/main" val="20003"/>
                    </a:ext>
                  </a:extLst>
                </a:gridCol>
                <a:gridCol w="688215">
                  <a:extLst>
                    <a:ext uri="{9D8B030D-6E8A-4147-A177-3AD203B41FA5}">
                      <a16:colId xmlns:a16="http://schemas.microsoft.com/office/drawing/2014/main" val="20004"/>
                    </a:ext>
                  </a:extLst>
                </a:gridCol>
                <a:gridCol w="483909">
                  <a:extLst>
                    <a:ext uri="{9D8B030D-6E8A-4147-A177-3AD203B41FA5}">
                      <a16:colId xmlns:a16="http://schemas.microsoft.com/office/drawing/2014/main" val="20005"/>
                    </a:ext>
                  </a:extLst>
                </a:gridCol>
              </a:tblGrid>
              <a:tr h="517163">
                <a:tc gridSpan="2">
                  <a:txBody>
                    <a:bodyPr/>
                    <a:lstStyle/>
                    <a:p>
                      <a:pPr>
                        <a:buNone/>
                      </a:pPr>
                      <a:r>
                        <a:rPr lang="en-IN" sz="1000" kern="100" dirty="0">
                          <a:effectLst/>
                          <a:latin typeface="Times New Roman" panose="02020603050405020304" pitchFamily="18" charset="0"/>
                          <a:cs typeface="Times New Roman" panose="02020603050405020304" pitchFamily="18" charset="0"/>
                        </a:rPr>
                        <a:t>Group</a:t>
                      </a:r>
                      <a:endParaRPr lang="en-IN" sz="1200" kern="100" dirty="0">
                        <a:effectLst/>
                        <a:latin typeface="Times New Roman" panose="02020603050405020304" pitchFamily="18" charset="0"/>
                        <a:cs typeface="Times New Roman" panose="02020603050405020304" pitchFamily="18" charset="0"/>
                      </a:endParaRPr>
                    </a:p>
                    <a:p>
                      <a:pPr>
                        <a:buNone/>
                      </a:pPr>
                      <a:r>
                        <a:rPr lang="en-IN" sz="10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Deviation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Error 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77792">
                <a:tc rowSpan="2">
                  <a:txBody>
                    <a:bodyPr/>
                    <a:lstStyle/>
                    <a:p>
                      <a:pPr algn="ctr">
                        <a:buNone/>
                      </a:pPr>
                      <a:r>
                        <a:rPr lang="en-IN" sz="1000" kern="100" dirty="0">
                          <a:effectLst/>
                          <a:latin typeface="Times New Roman" panose="02020603050405020304" pitchFamily="18" charset="0"/>
                          <a:cs typeface="Times New Roman" panose="02020603050405020304" pitchFamily="18" charset="0"/>
                        </a:rPr>
                        <a:t>Accuracy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vert="vert270"/>
                </a:tc>
                <a:tc>
                  <a:txBody>
                    <a:bodyPr/>
                    <a:lstStyle/>
                    <a:p>
                      <a:pPr>
                        <a:buNone/>
                      </a:pPr>
                      <a:r>
                        <a:rPr lang="en-IN" sz="1000" kern="100">
                          <a:effectLst/>
                          <a:latin typeface="Times New Roman" panose="02020603050405020304" pitchFamily="18" charset="0"/>
                          <a:cs typeface="Times New Roman" panose="02020603050405020304" pitchFamily="18" charset="0"/>
                        </a:rPr>
                        <a:t>LSTM</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a:effectLst/>
                          <a:latin typeface="Times New Roman" panose="02020603050405020304" pitchFamily="18" charset="0"/>
                          <a:cs typeface="Times New Roman" panose="02020603050405020304" pitchFamily="18" charset="0"/>
                        </a:rPr>
                        <a:t>10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90.434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a:effectLst/>
                          <a:latin typeface="Times New Roman" panose="02020603050405020304" pitchFamily="18" charset="0"/>
                          <a:cs typeface="Times New Roman" panose="02020603050405020304" pitchFamily="18" charset="0"/>
                        </a:rPr>
                        <a:t>.89872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.2842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1363">
                <a:tc v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RF</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85.180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4.5876</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4.587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000169" y="11226834"/>
            <a:ext cx="2892395" cy="275590"/>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Bar Plot for SVM </a:t>
            </a:r>
            <a:r>
              <a:rPr lang="en-US" sz="1200" b="1" dirty="0" smtClean="0">
                <a:latin typeface="Times New Roman" panose="02020603050405020304" pitchFamily="18" charset="0"/>
                <a:cs typeface="Times New Roman" panose="02020603050405020304" pitchFamily="18" charset="0"/>
              </a:rPr>
              <a:t>and </a:t>
            </a:r>
            <a:r>
              <a:rPr lang="en-US" sz="1200" b="1" dirty="0">
                <a:latin typeface="Times New Roman" panose="02020603050405020304" pitchFamily="18" charset="0"/>
                <a:cs typeface="Times New Roman" panose="02020603050405020304" pitchFamily="18" charset="0"/>
              </a:rPr>
              <a:t>DT</a:t>
            </a:r>
            <a:endParaRPr lang="en-IN" sz="1200" dirty="0"/>
          </a:p>
        </p:txBody>
      </p:sp>
      <p:sp>
        <p:nvSpPr>
          <p:cNvPr id="12" name="Text Box 28"/>
          <p:cNvSpPr txBox="1"/>
          <p:nvPr/>
        </p:nvSpPr>
        <p:spPr>
          <a:xfrm>
            <a:off x="-4168" y="11395555"/>
            <a:ext cx="5187741" cy="890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In the present work SVM compared with the proposed algorithm DT gives more accuracy. </a:t>
            </a:r>
          </a:p>
          <a:p>
            <a:pPr marL="342900" indent="-34290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The above Bar Plot shows the comparison between two algorithms. </a:t>
            </a:r>
          </a:p>
        </p:txBody>
      </p:sp>
      <p:pic>
        <p:nvPicPr>
          <p:cNvPr id="63" name="Picture 6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64648" y="10620002"/>
            <a:ext cx="2443032" cy="1156494"/>
          </a:xfrm>
          <a:prstGeom prst="rect">
            <a:avLst/>
          </a:prstGeom>
        </p:spPr>
      </p:pic>
      <p:sp>
        <p:nvSpPr>
          <p:cNvPr id="64" name="TextBox 63"/>
          <p:cNvSpPr txBox="1"/>
          <p:nvPr/>
        </p:nvSpPr>
        <p:spPr>
          <a:xfrm>
            <a:off x="8596515" y="11344858"/>
            <a:ext cx="7196346" cy="89011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In the present work KNN compared with the proposed algorithm LR gives more accuracy. </a:t>
            </a:r>
          </a:p>
          <a:p>
            <a:pPr marL="342900" indent="-342900" algn="just">
              <a:lnSpc>
                <a:spcPct val="15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The above Bar Plot shows the comparison between two algorithms. The Graph shows the </a:t>
            </a:r>
            <a:r>
              <a:rPr lang="en-US" altLang="en-IN" sz="1200" dirty="0">
                <a:latin typeface="Times New Roman" panose="02020603050405020304" pitchFamily="18" charset="0"/>
                <a:cs typeface="Times New Roman" panose="02020603050405020304" pitchFamily="18" charset="0"/>
                <a:sym typeface="+mn-ea"/>
              </a:rPr>
              <a:t>BLOOD CANCER ANALYSIS</a:t>
            </a:r>
            <a:r>
              <a:rPr lang="en-US" sz="1200" dirty="0">
                <a:latin typeface="Times New Roman" panose="02020603050405020304" pitchFamily="18" charset="0"/>
                <a:cs typeface="Times New Roman" panose="02020603050405020304" pitchFamily="18" charset="0"/>
              </a:rPr>
              <a:t>using KNN and LR</a:t>
            </a:r>
          </a:p>
        </p:txBody>
      </p:sp>
      <p:graphicFrame>
        <p:nvGraphicFramePr>
          <p:cNvPr id="97" name="Table 96"/>
          <p:cNvGraphicFramePr>
            <a:graphicFrameLocks noGrp="1"/>
          </p:cNvGraphicFramePr>
          <p:nvPr/>
        </p:nvGraphicFramePr>
        <p:xfrm>
          <a:off x="8489431" y="9802682"/>
          <a:ext cx="3453905" cy="1109227"/>
        </p:xfrm>
        <a:graphic>
          <a:graphicData uri="http://schemas.openxmlformats.org/drawingml/2006/table">
            <a:tbl>
              <a:tblPr firstRow="1" firstCol="1" bandRow="1">
                <a:tableStyleId>{5C22544A-7EE6-4342-B048-85BDC9FD1C3A}</a:tableStyleId>
              </a:tblPr>
              <a:tblGrid>
                <a:gridCol w="305467">
                  <a:extLst>
                    <a:ext uri="{9D8B030D-6E8A-4147-A177-3AD203B41FA5}">
                      <a16:colId xmlns:a16="http://schemas.microsoft.com/office/drawing/2014/main" val="20000"/>
                    </a:ext>
                  </a:extLst>
                </a:gridCol>
                <a:gridCol w="869744">
                  <a:extLst>
                    <a:ext uri="{9D8B030D-6E8A-4147-A177-3AD203B41FA5}">
                      <a16:colId xmlns:a16="http://schemas.microsoft.com/office/drawing/2014/main" val="20001"/>
                    </a:ext>
                  </a:extLst>
                </a:gridCol>
                <a:gridCol w="337794">
                  <a:extLst>
                    <a:ext uri="{9D8B030D-6E8A-4147-A177-3AD203B41FA5}">
                      <a16:colId xmlns:a16="http://schemas.microsoft.com/office/drawing/2014/main" val="20002"/>
                    </a:ext>
                  </a:extLst>
                </a:gridCol>
                <a:gridCol w="597134">
                  <a:extLst>
                    <a:ext uri="{9D8B030D-6E8A-4147-A177-3AD203B41FA5}">
                      <a16:colId xmlns:a16="http://schemas.microsoft.com/office/drawing/2014/main" val="20003"/>
                    </a:ext>
                  </a:extLst>
                </a:gridCol>
                <a:gridCol w="788995">
                  <a:extLst>
                    <a:ext uri="{9D8B030D-6E8A-4147-A177-3AD203B41FA5}">
                      <a16:colId xmlns:a16="http://schemas.microsoft.com/office/drawing/2014/main" val="20004"/>
                    </a:ext>
                  </a:extLst>
                </a:gridCol>
                <a:gridCol w="554771">
                  <a:extLst>
                    <a:ext uri="{9D8B030D-6E8A-4147-A177-3AD203B41FA5}">
                      <a16:colId xmlns:a16="http://schemas.microsoft.com/office/drawing/2014/main" val="20005"/>
                    </a:ext>
                  </a:extLst>
                </a:gridCol>
              </a:tblGrid>
              <a:tr h="395532">
                <a:tc gridSpan="2">
                  <a:txBody>
                    <a:bodyPr/>
                    <a:lstStyle/>
                    <a:p>
                      <a:pPr>
                        <a:buNone/>
                      </a:pPr>
                      <a:r>
                        <a:rPr lang="en-IN" sz="1000" kern="100" dirty="0">
                          <a:effectLst/>
                          <a:latin typeface="Times New Roman" panose="02020603050405020304" pitchFamily="18" charset="0"/>
                          <a:cs typeface="Times New Roman" panose="02020603050405020304" pitchFamily="18" charset="0"/>
                        </a:rPr>
                        <a:t>Group</a:t>
                      </a:r>
                      <a:endParaRPr lang="en-IN" sz="1200" kern="100" dirty="0">
                        <a:effectLst/>
                        <a:latin typeface="Times New Roman" panose="02020603050405020304" pitchFamily="18" charset="0"/>
                        <a:cs typeface="Times New Roman" panose="02020603050405020304" pitchFamily="18" charset="0"/>
                      </a:endParaRPr>
                    </a:p>
                    <a:p>
                      <a:pPr>
                        <a:buNone/>
                      </a:pPr>
                      <a:r>
                        <a:rPr lang="en-IN" sz="10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Deviation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Error 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63688">
                <a:tc rowSpan="2">
                  <a:txBody>
                    <a:bodyPr/>
                    <a:lstStyle/>
                    <a:p>
                      <a:pPr algn="ctr">
                        <a:buNone/>
                      </a:pPr>
                      <a:r>
                        <a:rPr lang="en-IN" sz="1000" kern="100" dirty="0">
                          <a:effectLst/>
                          <a:latin typeface="Times New Roman" panose="02020603050405020304" pitchFamily="18" charset="0"/>
                          <a:cs typeface="Times New Roman" panose="02020603050405020304" pitchFamily="18" charset="0"/>
                        </a:rPr>
                        <a:t>Accuracy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vert="vert27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NN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10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92.6990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3.60777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.14088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47227">
                <a:tc v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RF</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0.4800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85279</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26967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103" name="TextBox 102"/>
          <p:cNvSpPr txBox="1"/>
          <p:nvPr/>
        </p:nvSpPr>
        <p:spPr>
          <a:xfrm>
            <a:off x="9009971" y="10937821"/>
            <a:ext cx="1579404" cy="246221"/>
          </a:xfrm>
          <a:prstGeom prst="rect">
            <a:avLst/>
          </a:prstGeom>
          <a:noFill/>
        </p:spPr>
        <p:txBody>
          <a:bodyPr wrap="square">
            <a:spAutoFit/>
          </a:bodyPr>
          <a:lstStyle/>
          <a:p>
            <a:pPr algn="just"/>
            <a:r>
              <a:rPr lang="en-US" sz="1000" b="1" dirty="0">
                <a:latin typeface="Times New Roman" panose="02020603050405020304" pitchFamily="18" charset="0"/>
                <a:cs typeface="Times New Roman" panose="02020603050405020304" pitchFamily="18" charset="0"/>
              </a:rPr>
              <a:t>Group Statistics</a:t>
            </a:r>
            <a:endParaRPr lang="en-IN" sz="1000" dirty="0"/>
          </a:p>
        </p:txBody>
      </p:sp>
      <p:pic>
        <p:nvPicPr>
          <p:cNvPr id="107" name="Picture 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090014" y="25964631"/>
            <a:ext cx="2107113" cy="113460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082721" y="24669758"/>
            <a:ext cx="2114406" cy="1138526"/>
          </a:xfrm>
          <a:prstGeom prst="rect">
            <a:avLst/>
          </a:prstGeom>
          <a:noFill/>
          <a:extLst>
            <a:ext uri="{909E8E84-426E-40DD-AFC4-6F175D3DCCD1}">
              <a14:hiddenFill xmlns:a14="http://schemas.microsoft.com/office/drawing/2010/main">
                <a:solidFill>
                  <a:srgbClr val="FFFFFF"/>
                </a:solidFill>
              </a14:hiddenFill>
            </a:ext>
          </a:extLst>
        </p:spPr>
      </p:pic>
      <p:sp>
        <p:nvSpPr>
          <p:cNvPr id="112" name="TextBox 111"/>
          <p:cNvSpPr txBox="1"/>
          <p:nvPr/>
        </p:nvSpPr>
        <p:spPr>
          <a:xfrm>
            <a:off x="5089748" y="27133424"/>
            <a:ext cx="3373833" cy="245110"/>
          </a:xfrm>
          <a:prstGeom prst="rect">
            <a:avLst/>
          </a:prstGeom>
          <a:noFill/>
        </p:spPr>
        <p:txBody>
          <a:bodyPr wrap="square">
            <a:spAutoFit/>
          </a:bodyPr>
          <a:lstStyle/>
          <a:p>
            <a:pPr algn="just"/>
            <a:r>
              <a:rPr lang="en-US" altLang="en-IN" sz="1000" b="1" dirty="0">
                <a:sym typeface="+mn-ea"/>
              </a:rPr>
              <a:t>BLOOD CANCER ANALYSIS</a:t>
            </a:r>
            <a:r>
              <a:rPr lang="en-US" sz="1000" b="1" dirty="0">
                <a:latin typeface="Times New Roman" panose="02020603050405020304" pitchFamily="18" charset="0"/>
                <a:cs typeface="Times New Roman" panose="02020603050405020304" pitchFamily="18" charset="0"/>
              </a:rPr>
              <a:t> DT AND KNN </a:t>
            </a:r>
            <a:endParaRPr lang="en-IN" sz="1000" b="1" dirty="0">
              <a:latin typeface="Times New Roman" panose="02020603050405020304" pitchFamily="18" charset="0"/>
              <a:cs typeface="Times New Roman" panose="02020603050405020304" pitchFamily="18" charset="0"/>
            </a:endParaRPr>
          </a:p>
        </p:txBody>
      </p:sp>
      <p:sp>
        <p:nvSpPr>
          <p:cNvPr id="115" name="TextBox 114"/>
          <p:cNvSpPr txBox="1"/>
          <p:nvPr/>
        </p:nvSpPr>
        <p:spPr>
          <a:xfrm>
            <a:off x="-24682" y="26602989"/>
            <a:ext cx="5129117" cy="829945"/>
          </a:xfrm>
          <a:prstGeom prst="rect">
            <a:avLst/>
          </a:prstGeom>
          <a:noFill/>
        </p:spPr>
        <p:txBody>
          <a:bodyPr wrap="square">
            <a:spAutoFit/>
          </a:bodyPr>
          <a:lstStyle/>
          <a:p>
            <a:pPr marL="171450" indent="-171450" algn="just">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In the present work DT compared with the proposed algorithm  KNN gives more accuracy. </a:t>
            </a:r>
          </a:p>
          <a:p>
            <a:pPr marL="171450" indent="-171450" algn="just">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The above Bar Plot shows the comparison between two algorithms. The Graph shows the </a:t>
            </a:r>
            <a:r>
              <a:rPr lang="en-US" altLang="en-IN" sz="1200" b="1" dirty="0">
                <a:latin typeface="Times New Roman" panose="02020603050405020304" pitchFamily="18" charset="0"/>
                <a:cs typeface="Times New Roman" panose="02020603050405020304" pitchFamily="18" charset="0"/>
                <a:sym typeface="+mn-ea"/>
              </a:rPr>
              <a:t>BLOOD CANCER ANALYSIS</a:t>
            </a:r>
            <a:r>
              <a:rPr lang="en-US" sz="1200" dirty="0">
                <a:latin typeface="Times New Roman" panose="02020603050405020304" pitchFamily="18" charset="0"/>
                <a:cs typeface="Times New Roman" panose="02020603050405020304" pitchFamily="18" charset="0"/>
              </a:rPr>
              <a:t> DT and KNN</a:t>
            </a:r>
          </a:p>
        </p:txBody>
      </p:sp>
      <p:graphicFrame>
        <p:nvGraphicFramePr>
          <p:cNvPr id="116" name="Table 115"/>
          <p:cNvGraphicFramePr>
            <a:graphicFrameLocks noGrp="1"/>
          </p:cNvGraphicFramePr>
          <p:nvPr/>
        </p:nvGraphicFramePr>
        <p:xfrm>
          <a:off x="45688" y="25061201"/>
          <a:ext cx="3453905" cy="1109227"/>
        </p:xfrm>
        <a:graphic>
          <a:graphicData uri="http://schemas.openxmlformats.org/drawingml/2006/table">
            <a:tbl>
              <a:tblPr firstRow="1" firstCol="1" bandRow="1">
                <a:tableStyleId>{5C22544A-7EE6-4342-B048-85BDC9FD1C3A}</a:tableStyleId>
              </a:tblPr>
              <a:tblGrid>
                <a:gridCol w="305467">
                  <a:extLst>
                    <a:ext uri="{9D8B030D-6E8A-4147-A177-3AD203B41FA5}">
                      <a16:colId xmlns:a16="http://schemas.microsoft.com/office/drawing/2014/main" val="20000"/>
                    </a:ext>
                  </a:extLst>
                </a:gridCol>
                <a:gridCol w="869744">
                  <a:extLst>
                    <a:ext uri="{9D8B030D-6E8A-4147-A177-3AD203B41FA5}">
                      <a16:colId xmlns:a16="http://schemas.microsoft.com/office/drawing/2014/main" val="20001"/>
                    </a:ext>
                  </a:extLst>
                </a:gridCol>
                <a:gridCol w="337794">
                  <a:extLst>
                    <a:ext uri="{9D8B030D-6E8A-4147-A177-3AD203B41FA5}">
                      <a16:colId xmlns:a16="http://schemas.microsoft.com/office/drawing/2014/main" val="20002"/>
                    </a:ext>
                  </a:extLst>
                </a:gridCol>
                <a:gridCol w="597134">
                  <a:extLst>
                    <a:ext uri="{9D8B030D-6E8A-4147-A177-3AD203B41FA5}">
                      <a16:colId xmlns:a16="http://schemas.microsoft.com/office/drawing/2014/main" val="20003"/>
                    </a:ext>
                  </a:extLst>
                </a:gridCol>
                <a:gridCol w="788995">
                  <a:extLst>
                    <a:ext uri="{9D8B030D-6E8A-4147-A177-3AD203B41FA5}">
                      <a16:colId xmlns:a16="http://schemas.microsoft.com/office/drawing/2014/main" val="20004"/>
                    </a:ext>
                  </a:extLst>
                </a:gridCol>
                <a:gridCol w="554771">
                  <a:extLst>
                    <a:ext uri="{9D8B030D-6E8A-4147-A177-3AD203B41FA5}">
                      <a16:colId xmlns:a16="http://schemas.microsoft.com/office/drawing/2014/main" val="20005"/>
                    </a:ext>
                  </a:extLst>
                </a:gridCol>
              </a:tblGrid>
              <a:tr h="395532">
                <a:tc gridSpan="2">
                  <a:txBody>
                    <a:bodyPr/>
                    <a:lstStyle/>
                    <a:p>
                      <a:pPr>
                        <a:buNone/>
                      </a:pPr>
                      <a:r>
                        <a:rPr lang="en-IN" sz="1000" kern="100" dirty="0">
                          <a:effectLst/>
                          <a:latin typeface="Times New Roman" panose="02020603050405020304" pitchFamily="18" charset="0"/>
                          <a:cs typeface="Times New Roman" panose="02020603050405020304" pitchFamily="18" charset="0"/>
                        </a:rPr>
                        <a:t>Group</a:t>
                      </a:r>
                      <a:endParaRPr lang="en-IN" sz="1200" kern="100" dirty="0">
                        <a:effectLst/>
                        <a:latin typeface="Times New Roman" panose="02020603050405020304" pitchFamily="18" charset="0"/>
                        <a:cs typeface="Times New Roman" panose="02020603050405020304" pitchFamily="18" charset="0"/>
                      </a:endParaRPr>
                    </a:p>
                    <a:p>
                      <a:pPr>
                        <a:buNone/>
                      </a:pPr>
                      <a:r>
                        <a:rPr lang="en-IN" sz="10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Deviation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Error 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63688">
                <a:tc rowSpan="2">
                  <a:txBody>
                    <a:bodyPr/>
                    <a:lstStyle/>
                    <a:p>
                      <a:pPr algn="ctr">
                        <a:buNone/>
                      </a:pPr>
                      <a:r>
                        <a:rPr lang="en-IN" sz="1000" kern="100" dirty="0">
                          <a:effectLst/>
                          <a:latin typeface="Times New Roman" panose="02020603050405020304" pitchFamily="18" charset="0"/>
                          <a:cs typeface="Times New Roman" panose="02020603050405020304" pitchFamily="18" charset="0"/>
                        </a:rPr>
                        <a:t>Accuracy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vert="vert27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LR</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10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95.8980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.31112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.09838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47227">
                <a:tc vMerge="1">
                  <a:txBody>
                    <a:bodyPr/>
                    <a:lstStyle/>
                    <a:p>
                      <a:endParaRPr lang="en-US"/>
                    </a:p>
                  </a:txBody>
                  <a:tcPr/>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IN" sz="1000" kern="100" dirty="0">
                          <a:effectLst/>
                          <a:latin typeface="Times New Roman" panose="02020603050405020304" pitchFamily="18" charset="0"/>
                          <a:ea typeface="Calibri" panose="020F0502020204030204" pitchFamily="34" charset="0"/>
                          <a:cs typeface="Times New Roman" panose="02020603050405020304" pitchFamily="18" charset="0"/>
                        </a:rPr>
                        <a:t>NN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10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93.4950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3.62198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1.14537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119" name="TextBox 118"/>
          <p:cNvSpPr txBox="1"/>
          <p:nvPr/>
        </p:nvSpPr>
        <p:spPr>
          <a:xfrm>
            <a:off x="895243" y="26192531"/>
            <a:ext cx="1639613" cy="276999"/>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Group Statistics</a:t>
            </a:r>
            <a:endParaRPr lang="en-IN" sz="1200" dirty="0"/>
          </a:p>
        </p:txBody>
      </p:sp>
      <p:graphicFrame>
        <p:nvGraphicFramePr>
          <p:cNvPr id="120" name="Table 119"/>
          <p:cNvGraphicFramePr>
            <a:graphicFrameLocks noGrp="1"/>
          </p:cNvGraphicFramePr>
          <p:nvPr/>
        </p:nvGraphicFramePr>
        <p:xfrm>
          <a:off x="8533923" y="25116020"/>
          <a:ext cx="3624151" cy="1109227"/>
        </p:xfrm>
        <a:graphic>
          <a:graphicData uri="http://schemas.openxmlformats.org/drawingml/2006/table">
            <a:tbl>
              <a:tblPr firstRow="1" firstCol="1" bandRow="1">
                <a:tableStyleId>{5C22544A-7EE6-4342-B048-85BDC9FD1C3A}</a:tableStyleId>
              </a:tblPr>
              <a:tblGrid>
                <a:gridCol w="320524">
                  <a:extLst>
                    <a:ext uri="{9D8B030D-6E8A-4147-A177-3AD203B41FA5}">
                      <a16:colId xmlns:a16="http://schemas.microsoft.com/office/drawing/2014/main" val="20000"/>
                    </a:ext>
                  </a:extLst>
                </a:gridCol>
                <a:gridCol w="912615">
                  <a:extLst>
                    <a:ext uri="{9D8B030D-6E8A-4147-A177-3AD203B41FA5}">
                      <a16:colId xmlns:a16="http://schemas.microsoft.com/office/drawing/2014/main" val="20001"/>
                    </a:ext>
                  </a:extLst>
                </a:gridCol>
                <a:gridCol w="354444">
                  <a:extLst>
                    <a:ext uri="{9D8B030D-6E8A-4147-A177-3AD203B41FA5}">
                      <a16:colId xmlns:a16="http://schemas.microsoft.com/office/drawing/2014/main" val="20002"/>
                    </a:ext>
                  </a:extLst>
                </a:gridCol>
                <a:gridCol w="626567">
                  <a:extLst>
                    <a:ext uri="{9D8B030D-6E8A-4147-A177-3AD203B41FA5}">
                      <a16:colId xmlns:a16="http://schemas.microsoft.com/office/drawing/2014/main" val="20003"/>
                    </a:ext>
                  </a:extLst>
                </a:gridCol>
                <a:gridCol w="827885">
                  <a:extLst>
                    <a:ext uri="{9D8B030D-6E8A-4147-A177-3AD203B41FA5}">
                      <a16:colId xmlns:a16="http://schemas.microsoft.com/office/drawing/2014/main" val="20004"/>
                    </a:ext>
                  </a:extLst>
                </a:gridCol>
                <a:gridCol w="582116">
                  <a:extLst>
                    <a:ext uri="{9D8B030D-6E8A-4147-A177-3AD203B41FA5}">
                      <a16:colId xmlns:a16="http://schemas.microsoft.com/office/drawing/2014/main" val="20005"/>
                    </a:ext>
                  </a:extLst>
                </a:gridCol>
              </a:tblGrid>
              <a:tr h="395532">
                <a:tc gridSpan="2">
                  <a:txBody>
                    <a:bodyPr/>
                    <a:lstStyle/>
                    <a:p>
                      <a:pPr>
                        <a:buNone/>
                      </a:pPr>
                      <a:r>
                        <a:rPr lang="en-IN" sz="1000" kern="100" dirty="0">
                          <a:effectLst/>
                          <a:latin typeface="Times New Roman" panose="02020603050405020304" pitchFamily="18" charset="0"/>
                          <a:cs typeface="Times New Roman" panose="02020603050405020304" pitchFamily="18" charset="0"/>
                        </a:rPr>
                        <a:t>Group</a:t>
                      </a:r>
                      <a:endParaRPr lang="en-IN" sz="1200" kern="100" dirty="0">
                        <a:effectLst/>
                        <a:latin typeface="Times New Roman" panose="02020603050405020304" pitchFamily="18" charset="0"/>
                        <a:cs typeface="Times New Roman" panose="02020603050405020304" pitchFamily="18" charset="0"/>
                      </a:endParaRPr>
                    </a:p>
                    <a:p>
                      <a:pPr>
                        <a:buNone/>
                      </a:pPr>
                      <a:r>
                        <a:rPr lang="en-IN" sz="10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a:buNone/>
                      </a:pPr>
                      <a:r>
                        <a:rPr lang="en-IN" sz="1000" kern="100" dirty="0">
                          <a:effectLst/>
                          <a:latin typeface="Times New Roman" panose="02020603050405020304" pitchFamily="18" charset="0"/>
                          <a:cs typeface="Times New Roman" panose="02020603050405020304" pitchFamily="18" charset="0"/>
                        </a:rPr>
                        <a:t>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Deviation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IN" sz="1000" kern="100" dirty="0">
                          <a:effectLst/>
                          <a:latin typeface="Times New Roman" panose="02020603050405020304" pitchFamily="18" charset="0"/>
                          <a:cs typeface="Times New Roman" panose="02020603050405020304" pitchFamily="18" charset="0"/>
                        </a:rPr>
                        <a:t>Std. Error Mean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63688">
                <a:tc rowSpan="2">
                  <a:txBody>
                    <a:bodyPr/>
                    <a:lstStyle/>
                    <a:p>
                      <a:pPr algn="ctr">
                        <a:buNone/>
                      </a:pPr>
                      <a:r>
                        <a:rPr lang="en-IN" sz="1000" kern="100" dirty="0">
                          <a:effectLst/>
                          <a:latin typeface="Times New Roman" panose="02020603050405020304" pitchFamily="18" charset="0"/>
                          <a:cs typeface="Times New Roman" panose="02020603050405020304" pitchFamily="18" charset="0"/>
                        </a:rPr>
                        <a:t>Accuracy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vert="vert27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SVM</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10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95.8950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7.29156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2.305080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47227">
                <a:tc vMerge="1">
                  <a:txBody>
                    <a:bodyPr/>
                    <a:lstStyle/>
                    <a:p>
                      <a:endParaRPr lang="en-US"/>
                    </a:p>
                  </a:txBody>
                  <a:tcPr/>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LR</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IN" sz="1000" kern="100" dirty="0">
                          <a:effectLst/>
                          <a:latin typeface="Times New Roman" panose="02020603050405020304" pitchFamily="18" charset="0"/>
                          <a:cs typeface="Times New Roman" panose="02020603050405020304" pitchFamily="18" charset="0"/>
                        </a:rPr>
                        <a:t>10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95.8970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.31411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sz="1000" kern="100" dirty="0">
                          <a:effectLst/>
                          <a:latin typeface="Times New Roman" panose="02020603050405020304" pitchFamily="18" charset="0"/>
                          <a:ea typeface="Calibri" panose="020F0502020204030204" pitchFamily="34" charset="0"/>
                          <a:cs typeface="Times New Roman" panose="02020603050405020304" pitchFamily="18" charset="0"/>
                        </a:rPr>
                        <a:t>0.9933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121" name="TextBox 120"/>
          <p:cNvSpPr txBox="1"/>
          <p:nvPr/>
        </p:nvSpPr>
        <p:spPr>
          <a:xfrm>
            <a:off x="9217622" y="26189308"/>
            <a:ext cx="1639613" cy="276999"/>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Group Statistics</a:t>
            </a:r>
            <a:endParaRPr lang="en-IN" sz="1200" dirty="0"/>
          </a:p>
        </p:txBody>
      </p:sp>
      <p:sp>
        <p:nvSpPr>
          <p:cNvPr id="122" name="TextBox 121"/>
          <p:cNvSpPr txBox="1"/>
          <p:nvPr/>
        </p:nvSpPr>
        <p:spPr>
          <a:xfrm>
            <a:off x="12779137" y="26146365"/>
            <a:ext cx="1075759" cy="229870"/>
          </a:xfrm>
          <a:prstGeom prst="rect">
            <a:avLst/>
          </a:prstGeom>
          <a:noFill/>
        </p:spPr>
        <p:txBody>
          <a:bodyPr wrap="square">
            <a:spAutoFit/>
          </a:bodyPr>
          <a:lstStyle/>
          <a:p>
            <a:pPr algn="just"/>
            <a:r>
              <a:rPr lang="en-US" altLang="en-IN" sz="900" b="1" dirty="0"/>
              <a:t>LR AND GB</a:t>
            </a:r>
          </a:p>
        </p:txBody>
      </p:sp>
      <p:sp>
        <p:nvSpPr>
          <p:cNvPr id="124" name="TextBox 123"/>
          <p:cNvSpPr txBox="1"/>
          <p:nvPr/>
        </p:nvSpPr>
        <p:spPr>
          <a:xfrm>
            <a:off x="8445207" y="26578922"/>
            <a:ext cx="8038264" cy="645160"/>
          </a:xfrm>
          <a:prstGeom prst="rect">
            <a:avLst/>
          </a:prstGeom>
          <a:noFill/>
        </p:spPr>
        <p:txBody>
          <a:bodyPr wrap="square">
            <a:spAutoFit/>
          </a:bodyPr>
          <a:lstStyle/>
          <a:p>
            <a:pPr marL="171450" indent="-171450" algn="just">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In the present work GB compared with the proposed algorithm  LR gives more accuracy. </a:t>
            </a:r>
          </a:p>
          <a:p>
            <a:pPr marL="171450" indent="-171450" algn="just">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The above Bar Plot shows the comparison between two algorithms. The Graph shows the </a:t>
            </a:r>
            <a:r>
              <a:rPr lang="en-US" sz="1200" dirty="0">
                <a:latin typeface="Times New Roman" panose="02020603050405020304" pitchFamily="18" charset="0"/>
                <a:cs typeface="Times New Roman" panose="02020603050405020304" pitchFamily="18" charset="0"/>
                <a:sym typeface="+mn-ea"/>
              </a:rPr>
              <a:t>blood cancer prediction</a:t>
            </a:r>
            <a:r>
              <a:rPr lang="en-US" sz="1200" dirty="0">
                <a:latin typeface="Times New Roman" panose="02020603050405020304" pitchFamily="18" charset="0"/>
                <a:cs typeface="Times New Roman" panose="02020603050405020304" pitchFamily="18" charset="0"/>
              </a:rPr>
              <a:t> using LR and GB</a:t>
            </a:r>
          </a:p>
        </p:txBody>
      </p:sp>
      <p:sp>
        <p:nvSpPr>
          <p:cNvPr id="28" name="TextBox 77"/>
          <p:cNvSpPr txBox="1"/>
          <p:nvPr/>
        </p:nvSpPr>
        <p:spPr>
          <a:xfrm>
            <a:off x="8824593" y="2904415"/>
            <a:ext cx="7554555" cy="398780"/>
          </a:xfrm>
          <a:prstGeom prst="rect">
            <a:avLst/>
          </a:prstGeom>
          <a:noFill/>
        </p:spPr>
        <p:txBody>
          <a:bodyPr wrap="square" rtlCol="0">
            <a:spAutoFit/>
          </a:bodyPr>
          <a:lstStyle/>
          <a:p>
            <a:pPr algn="ctr"/>
            <a:endParaRPr lang="en-US" sz="2000" b="1" dirty="0">
              <a:latin typeface="Times New Roman" panose="02020603050405020304" pitchFamily="18" charset="0"/>
              <a:cs typeface="Times New Roman" panose="02020603050405020304" pitchFamily="18" charset="0"/>
            </a:endParaRPr>
          </a:p>
        </p:txBody>
      </p:sp>
      <p:sp>
        <p:nvSpPr>
          <p:cNvPr id="49" name="TextBox 77"/>
          <p:cNvSpPr txBox="1"/>
          <p:nvPr/>
        </p:nvSpPr>
        <p:spPr>
          <a:xfrm>
            <a:off x="8697593" y="2777415"/>
            <a:ext cx="7554555" cy="706755"/>
          </a:xfrm>
          <a:prstGeom prst="rect">
            <a:avLst/>
          </a:prstGeom>
          <a:noFill/>
        </p:spPr>
        <p:txBody>
          <a:bodyPr wrap="square" rtlCol="0">
            <a:spAutoFit/>
          </a:bodyPr>
          <a:lstStyle/>
          <a:p>
            <a:pPr algn="ctr"/>
            <a:r>
              <a:rPr lang="en-US" altLang="en-US" sz="2000" b="1" dirty="0">
                <a:latin typeface="Times New Roman" panose="02020603050405020304" pitchFamily="18" charset="0"/>
                <a:cs typeface="Times New Roman" panose="02020603050405020304" pitchFamily="18" charset="0"/>
                <a:sym typeface="+mn-ea"/>
              </a:rPr>
              <a:t>Optimized Blood Cancer Analysis Employing K-Nearest Neighbour Algorithm And Logistics Regression Algorithm</a:t>
            </a:r>
            <a:endParaRPr lang="en-US" sz="2000" b="1" dirty="0">
              <a:latin typeface="Times New Roman" panose="02020603050405020304" pitchFamily="18" charset="0"/>
              <a:cs typeface="Times New Roman" panose="02020603050405020304" pitchFamily="18" charset="0"/>
            </a:endParaRPr>
          </a:p>
        </p:txBody>
      </p:sp>
      <p:pic>
        <p:nvPicPr>
          <p:cNvPr id="60" name="Picture 59" descr="blood sample 1"/>
          <p:cNvPicPr>
            <a:picLocks noChangeAspect="1"/>
          </p:cNvPicPr>
          <p:nvPr/>
        </p:nvPicPr>
        <p:blipFill>
          <a:blip r:embed="rId13"/>
          <a:stretch>
            <a:fillRect/>
          </a:stretch>
        </p:blipFill>
        <p:spPr>
          <a:xfrm>
            <a:off x="6082665" y="4191635"/>
            <a:ext cx="2096770" cy="1783080"/>
          </a:xfrm>
          <a:prstGeom prst="rect">
            <a:avLst/>
          </a:prstGeom>
        </p:spPr>
      </p:pic>
      <p:pic>
        <p:nvPicPr>
          <p:cNvPr id="89" name="Picture 88" descr="BS2"/>
          <p:cNvPicPr>
            <a:picLocks noChangeAspect="1"/>
          </p:cNvPicPr>
          <p:nvPr/>
        </p:nvPicPr>
        <p:blipFill>
          <a:blip r:embed="rId14"/>
          <a:stretch>
            <a:fillRect/>
          </a:stretch>
        </p:blipFill>
        <p:spPr>
          <a:xfrm>
            <a:off x="5990590" y="19658965"/>
            <a:ext cx="1920240" cy="1394460"/>
          </a:xfrm>
          <a:prstGeom prst="rect">
            <a:avLst/>
          </a:prstGeom>
        </p:spPr>
      </p:pic>
      <p:pic>
        <p:nvPicPr>
          <p:cNvPr id="106" name="Picture 105" descr="BS3"/>
          <p:cNvPicPr>
            <a:picLocks noChangeAspect="1"/>
          </p:cNvPicPr>
          <p:nvPr/>
        </p:nvPicPr>
        <p:blipFill>
          <a:blip r:embed="rId15"/>
          <a:stretch>
            <a:fillRect/>
          </a:stretch>
        </p:blipFill>
        <p:spPr>
          <a:xfrm>
            <a:off x="14439265" y="19117310"/>
            <a:ext cx="1812290" cy="1988820"/>
          </a:xfrm>
          <a:prstGeom prst="rect">
            <a:avLst/>
          </a:prstGeom>
        </p:spPr>
      </p:pic>
      <p:pic>
        <p:nvPicPr>
          <p:cNvPr id="110" name="Picture 109" descr="BS4"/>
          <p:cNvPicPr>
            <a:picLocks noChangeAspect="1"/>
          </p:cNvPicPr>
          <p:nvPr/>
        </p:nvPicPr>
        <p:blipFill>
          <a:blip r:embed="rId16"/>
          <a:stretch>
            <a:fillRect/>
          </a:stretch>
        </p:blipFill>
        <p:spPr>
          <a:xfrm>
            <a:off x="14109700" y="4191635"/>
            <a:ext cx="2217420" cy="1729740"/>
          </a:xfrm>
          <a:prstGeom prst="rect">
            <a:avLst/>
          </a:prstGeom>
        </p:spPr>
      </p:pic>
      <p:pic>
        <p:nvPicPr>
          <p:cNvPr id="2097157" name="Picture 13"/>
          <p:cNvPicPr>
            <a:picLocks noChangeAspect="1"/>
          </p:cNvPicPr>
          <p:nvPr/>
        </p:nvPicPr>
        <p:blipFill>
          <a:blip r:embed="rId17"/>
          <a:stretch>
            <a:fillRect/>
          </a:stretch>
        </p:blipFill>
        <p:spPr>
          <a:xfrm>
            <a:off x="8435682" y="6431614"/>
            <a:ext cx="8038757" cy="2890527"/>
          </a:xfrm>
          <a:prstGeom prst="rect">
            <a:avLst/>
          </a:prstGeom>
        </p:spPr>
      </p:pic>
      <p:sp>
        <p:nvSpPr>
          <p:cNvPr id="126" name="Text Box 125"/>
          <p:cNvSpPr txBox="1"/>
          <p:nvPr/>
        </p:nvSpPr>
        <p:spPr>
          <a:xfrm>
            <a:off x="8506460" y="6431915"/>
            <a:ext cx="2955925" cy="294005"/>
          </a:xfrm>
          <a:prstGeom prst="rect">
            <a:avLst/>
          </a:prstGeom>
          <a:solidFill>
            <a:srgbClr val="FFFF00"/>
          </a:solidFill>
        </p:spPr>
        <p:txBody>
          <a:bodyPr wrap="square" rtlCol="0">
            <a:noAutofit/>
          </a:bodyPr>
          <a:lstStyle/>
          <a:p>
            <a:r>
              <a:rPr lang="en-US" sz="1400" b="1" dirty="0">
                <a:highlight>
                  <a:srgbClr val="FFFF00"/>
                </a:highlight>
                <a:latin typeface="Times New Roman" panose="02020603050405020304" pitchFamily="18" charset="0"/>
                <a:cs typeface="Times New Roman" panose="02020603050405020304" pitchFamily="18" charset="0"/>
                <a:sym typeface="+mn-ea"/>
              </a:rPr>
              <a:t>MATERIALS AND METHODS</a:t>
            </a:r>
            <a:endParaRPr lang="en-IN" sz="1400" b="1" dirty="0">
              <a:solidFill>
                <a:schemeClr val="tx1"/>
              </a:solidFill>
              <a:highlight>
                <a:srgbClr val="FFFF00"/>
              </a:highlight>
              <a:latin typeface="Times New Roman" panose="02020603050405020304" pitchFamily="18" charset="0"/>
              <a:cs typeface="Times New Roman" panose="02020603050405020304" pitchFamily="18" charset="0"/>
            </a:endParaRPr>
          </a:p>
          <a:p>
            <a:endParaRPr lang="en-US" sz="1400" dirty="0">
              <a:highlight>
                <a:srgbClr val="FFFF00"/>
              </a:highlight>
            </a:endParaRPr>
          </a:p>
        </p:txBody>
      </p:sp>
      <p:pic>
        <p:nvPicPr>
          <p:cNvPr id="128" name="Picture 11"/>
          <p:cNvPicPr>
            <a:picLocks noChangeAspect="1"/>
          </p:cNvPicPr>
          <p:nvPr/>
        </p:nvPicPr>
        <p:blipFill>
          <a:blip r:embed="rId18"/>
          <a:stretch>
            <a:fillRect/>
          </a:stretch>
        </p:blipFill>
        <p:spPr>
          <a:xfrm>
            <a:off x="-4445" y="6813550"/>
            <a:ext cx="8256905" cy="2425825"/>
          </a:xfrm>
          <a:prstGeom prst="rect">
            <a:avLst/>
          </a:prstGeom>
        </p:spPr>
      </p:pic>
      <p:pic>
        <p:nvPicPr>
          <p:cNvPr id="129" name="Picture 16"/>
          <p:cNvPicPr>
            <a:picLocks noChangeAspect="1"/>
          </p:cNvPicPr>
          <p:nvPr/>
        </p:nvPicPr>
        <p:blipFill>
          <a:blip r:embed="rId17"/>
          <a:stretch>
            <a:fillRect/>
          </a:stretch>
        </p:blipFill>
        <p:spPr>
          <a:xfrm>
            <a:off x="0" y="21562172"/>
            <a:ext cx="8213807" cy="2987876"/>
          </a:xfrm>
          <a:prstGeom prst="rect">
            <a:avLst/>
          </a:prstGeom>
        </p:spPr>
      </p:pic>
      <p:sp>
        <p:nvSpPr>
          <p:cNvPr id="130" name="Text Box 129"/>
          <p:cNvSpPr txBox="1"/>
          <p:nvPr/>
        </p:nvSpPr>
        <p:spPr>
          <a:xfrm>
            <a:off x="404588" y="24097348"/>
            <a:ext cx="7014845" cy="337185"/>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 </a:t>
            </a:r>
            <a:r>
              <a:rPr lang="en-US" altLang="en-US" sz="1200" b="1" dirty="0">
                <a:latin typeface="Times New Roman" panose="02020603050405020304" pitchFamily="18" charset="0"/>
                <a:cs typeface="Times New Roman" panose="02020603050405020304" pitchFamily="18" charset="0"/>
              </a:rPr>
              <a:t>Performance Comparison of ML Algorithms for Blood Cancer Prediction</a:t>
            </a:r>
          </a:p>
        </p:txBody>
      </p:sp>
      <p:sp>
        <p:nvSpPr>
          <p:cNvPr id="131" name="Text Box 130"/>
          <p:cNvSpPr txBox="1"/>
          <p:nvPr/>
        </p:nvSpPr>
        <p:spPr>
          <a:xfrm>
            <a:off x="66675" y="21656675"/>
            <a:ext cx="2795905" cy="343535"/>
          </a:xfrm>
          <a:prstGeom prst="rect">
            <a:avLst/>
          </a:prstGeom>
          <a:solidFill>
            <a:srgbClr val="FFFF00"/>
          </a:solidFill>
        </p:spPr>
        <p:txBody>
          <a:bodyPr wrap="square" rtlCol="0">
            <a:noAutofit/>
          </a:bodyPr>
          <a:lstStyle/>
          <a:p>
            <a:r>
              <a:rPr lang="en-US" sz="1400" b="1" dirty="0">
                <a:highlight>
                  <a:srgbClr val="FFFF00"/>
                </a:highlight>
                <a:latin typeface="Times New Roman" panose="02020603050405020304" pitchFamily="18" charset="0"/>
                <a:cs typeface="Times New Roman" panose="02020603050405020304" pitchFamily="18" charset="0"/>
                <a:sym typeface="+mn-ea"/>
              </a:rPr>
              <a:t>MATERIALS AND METHODS</a:t>
            </a:r>
            <a:endParaRPr lang="en-IN" sz="1400" b="1" dirty="0">
              <a:solidFill>
                <a:schemeClr val="tx1"/>
              </a:solidFill>
              <a:highlight>
                <a:srgbClr val="FFFF00"/>
              </a:highlight>
              <a:latin typeface="Times New Roman" panose="02020603050405020304" pitchFamily="18" charset="0"/>
              <a:cs typeface="Times New Roman" panose="02020603050405020304" pitchFamily="18" charset="0"/>
            </a:endParaRPr>
          </a:p>
          <a:p>
            <a:endParaRPr lang="en-US" sz="1400"/>
          </a:p>
        </p:txBody>
      </p:sp>
      <p:pic>
        <p:nvPicPr>
          <p:cNvPr id="2097161" name="Picture 17"/>
          <p:cNvPicPr>
            <a:picLocks noChangeAspect="1"/>
          </p:cNvPicPr>
          <p:nvPr/>
        </p:nvPicPr>
        <p:blipFill>
          <a:blip r:embed="rId19"/>
          <a:stretch>
            <a:fillRect/>
          </a:stretch>
        </p:blipFill>
        <p:spPr>
          <a:xfrm>
            <a:off x="8489315" y="22053050"/>
            <a:ext cx="7970520" cy="2389369"/>
          </a:xfrm>
          <a:prstGeom prst="rect">
            <a:avLst/>
          </a:prstGeom>
        </p:spPr>
      </p:pic>
      <p:sp>
        <p:nvSpPr>
          <p:cNvPr id="3" name="Text Box 2"/>
          <p:cNvSpPr txBox="1"/>
          <p:nvPr/>
        </p:nvSpPr>
        <p:spPr>
          <a:xfrm>
            <a:off x="8435683" y="8830817"/>
            <a:ext cx="8023517" cy="276999"/>
          </a:xfrm>
          <a:prstGeom prst="rect">
            <a:avLst/>
          </a:prstGeom>
          <a:noFill/>
        </p:spPr>
        <p:txBody>
          <a:bodyPr wrap="square" rtlCol="0">
            <a:spAutoFit/>
          </a:bodyPr>
          <a:lstStyle/>
          <a:p>
            <a:pPr algn="ctr"/>
            <a:r>
              <a:rPr lang="en-US" altLang="en-US" sz="1200" b="1" dirty="0">
                <a:latin typeface="Times New Roman" panose="02020603050405020304" pitchFamily="18" charset="0"/>
                <a:cs typeface="Times New Roman" panose="02020603050405020304" pitchFamily="18" charset="0"/>
              </a:rPr>
              <a:t>Accuracy Analysis: Traditional vs Ensemble Learning Models</a:t>
            </a:r>
            <a:endParaRPr lang="en-US" sz="1200" b="1" dirty="0">
              <a:latin typeface="Times New Roman" panose="02020603050405020304" pitchFamily="18" charset="0"/>
              <a:cs typeface="Times New Roman" panose="02020603050405020304" pitchFamily="18" charset="0"/>
            </a:endParaRPr>
          </a:p>
        </p:txBody>
      </p:sp>
      <p:sp>
        <p:nvSpPr>
          <p:cNvPr id="8" name="Text Box 7"/>
          <p:cNvSpPr txBox="1"/>
          <p:nvPr/>
        </p:nvSpPr>
        <p:spPr>
          <a:xfrm>
            <a:off x="1653222" y="9056685"/>
            <a:ext cx="4648200" cy="276999"/>
          </a:xfrm>
          <a:prstGeom prst="rect">
            <a:avLst/>
          </a:prstGeom>
          <a:noFill/>
        </p:spPr>
        <p:txBody>
          <a:bodyPr wrap="square" rtlCol="0">
            <a:spAutoFit/>
          </a:bodyPr>
          <a:lstStyle/>
          <a:p>
            <a:pPr algn="ctr"/>
            <a:r>
              <a:rPr lang="en-US" altLang="en-US" sz="1200" b="1" dirty="0">
                <a:latin typeface="Times New Roman" panose="02020603050405020304" pitchFamily="18" charset="0"/>
                <a:cs typeface="Times New Roman" panose="02020603050405020304" pitchFamily="18" charset="0"/>
              </a:rPr>
              <a:t>Model Evaluation Metrics Overview</a:t>
            </a:r>
          </a:p>
        </p:txBody>
      </p:sp>
      <p:sp>
        <p:nvSpPr>
          <p:cNvPr id="9" name="Text Box 8"/>
          <p:cNvSpPr txBox="1"/>
          <p:nvPr/>
        </p:nvSpPr>
        <p:spPr>
          <a:xfrm>
            <a:off x="10170795" y="24236045"/>
            <a:ext cx="4225925" cy="276999"/>
          </a:xfrm>
          <a:prstGeom prst="rect">
            <a:avLst/>
          </a:prstGeom>
          <a:noFill/>
        </p:spPr>
        <p:txBody>
          <a:bodyPr wrap="square" rtlCol="0">
            <a:spAutoFit/>
          </a:bodyPr>
          <a:lstStyle/>
          <a:p>
            <a:pPr algn="ctr"/>
            <a:r>
              <a:rPr lang="en-US" altLang="en-US" sz="1200" b="1" dirty="0">
                <a:latin typeface="Times New Roman" panose="02020603050405020304" pitchFamily="18" charset="0"/>
                <a:cs typeface="Times New Roman" panose="02020603050405020304" pitchFamily="18" charset="0"/>
              </a:rPr>
              <a:t>Statistical Significance of Algorithm Performance</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TotalTime>
  <Words>1456</Words>
  <Application>Microsoft Office PowerPoint</Application>
  <PresentationFormat>Custom</PresentationFormat>
  <Paragraphs>195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Admin</cp:lastModifiedBy>
  <cp:revision>60</cp:revision>
  <dcterms:created xsi:type="dcterms:W3CDTF">2023-04-19T08:35:00Z</dcterms:created>
  <dcterms:modified xsi:type="dcterms:W3CDTF">2025-05-29T03:20:05Z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37705232EA2F42F69CBA553F633D17B3_13</vt:lpwstr>
  </property>
  <property fmtid="{D5CDD505-2E9C-101B-9397-08002B2CF9AE}" pid="3" name="KSOProductBuildVer">
    <vt:lpwstr>1033-12.2.0.21179</vt:lpwstr>
  </property>
</Properties>
</file>